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5342b836b44432" /><Relationship Type="http://schemas.openxmlformats.org/officeDocument/2006/relationships/extended-properties" Target="/docProps/app.xml" Id="Rbda93c5b02fb4319" /><Relationship Type="http://schemas.openxmlformats.org/officeDocument/2006/relationships/officeDocument" Target="/ppt/presentation.xml" Id="R133b27863f734c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0074f5451c4745"/>
  </p:sldMasterIdLst>
  <p:notesMasterIdLst>
    <p:notesMasterId xmlns:r="http://schemas.openxmlformats.org/officeDocument/2006/relationships" r:id="Rd9eed1b47f944bfe"/>
  </p:notesMasterIdLst>
  <p:sldIdLst>
    <p:sldId xmlns:r="http://schemas.openxmlformats.org/officeDocument/2006/relationships" id="256" r:id="Re19fa5ebd59448bf"/>
    <p:sldId xmlns:r="http://schemas.openxmlformats.org/officeDocument/2006/relationships" id="257" r:id="R97028bd6b7d34a69"/>
    <p:sldId xmlns:r="http://schemas.openxmlformats.org/officeDocument/2006/relationships" id="258" r:id="R7d0adc71a6264f71"/>
    <p:sldId xmlns:r="http://schemas.openxmlformats.org/officeDocument/2006/relationships" id="259" r:id="R0e1ffd446e334c75"/>
    <p:sldId xmlns:r="http://schemas.openxmlformats.org/officeDocument/2006/relationships" id="260" r:id="R2f5f49f052bc482e"/>
    <p:sldId xmlns:r="http://schemas.openxmlformats.org/officeDocument/2006/relationships" id="261" r:id="R9b27057d99a64b1a"/>
    <p:sldId xmlns:r="http://schemas.openxmlformats.org/officeDocument/2006/relationships" id="262" r:id="R2cc5ff962a27447b"/>
    <p:sldId xmlns:r="http://schemas.openxmlformats.org/officeDocument/2006/relationships" id="263" r:id="R122e3fead6504fb7"/>
    <p:sldId xmlns:r="http://schemas.openxmlformats.org/officeDocument/2006/relationships" id="264" r:id="Rfefa2a2b2ac84ed8"/>
    <p:sldId xmlns:r="http://schemas.openxmlformats.org/officeDocument/2006/relationships" id="265" r:id="Ra8400544a41b4b88"/>
    <p:sldId xmlns:r="http://schemas.openxmlformats.org/officeDocument/2006/relationships" id="266" r:id="R724372c5a2af483f"/>
    <p:sldId xmlns:r="http://schemas.openxmlformats.org/officeDocument/2006/relationships" id="267" r:id="Re221093c838a43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3122c0fb1944a7" /><Relationship Type="http://schemas.openxmlformats.org/officeDocument/2006/relationships/slideMaster" Target="/ppt/slideMasters/slideMaster1.xml" Id="Ra80074f5451c4745" /><Relationship Type="http://schemas.openxmlformats.org/officeDocument/2006/relationships/notesMaster" Target="/ppt/notesMasters/notesMaster1.xml" Id="Rd9eed1b47f944bfe" /><Relationship Type="http://schemas.openxmlformats.org/officeDocument/2006/relationships/presProps" Target="/ppt/presProps.xml" Id="R8d8e0bfb23e542f5" /><Relationship Type="http://schemas.openxmlformats.org/officeDocument/2006/relationships/tableStyles" Target="/ppt/tableStyles.xml" Id="R1403077f78f44c3a" /><Relationship Type="http://schemas.openxmlformats.org/officeDocument/2006/relationships/slide" Target="/ppt/slides/slide1.xml" Id="Re19fa5ebd59448bf" /><Relationship Type="http://schemas.openxmlformats.org/officeDocument/2006/relationships/slide" Target="/ppt/slides/slide2.xml" Id="R97028bd6b7d34a69" /><Relationship Type="http://schemas.openxmlformats.org/officeDocument/2006/relationships/slide" Target="/ppt/slides/slide3.xml" Id="R7d0adc71a6264f71" /><Relationship Type="http://schemas.openxmlformats.org/officeDocument/2006/relationships/slide" Target="/ppt/slides/slide4.xml" Id="R0e1ffd446e334c75" /><Relationship Type="http://schemas.openxmlformats.org/officeDocument/2006/relationships/slide" Target="/ppt/slides/slide5.xml" Id="R2f5f49f052bc482e" /><Relationship Type="http://schemas.openxmlformats.org/officeDocument/2006/relationships/slide" Target="/ppt/slides/slide6.xml" Id="R9b27057d99a64b1a" /><Relationship Type="http://schemas.openxmlformats.org/officeDocument/2006/relationships/slide" Target="/ppt/slides/slide7.xml" Id="R2cc5ff962a27447b" /><Relationship Type="http://schemas.openxmlformats.org/officeDocument/2006/relationships/slide" Target="/ppt/slides/slide8.xml" Id="R122e3fead6504fb7" /><Relationship Type="http://schemas.openxmlformats.org/officeDocument/2006/relationships/slide" Target="/ppt/slides/slide9.xml" Id="Rfefa2a2b2ac84ed8" /><Relationship Type="http://schemas.openxmlformats.org/officeDocument/2006/relationships/slide" Target="/ppt/slides/slide10.xml" Id="Ra8400544a41b4b88" /><Relationship Type="http://schemas.openxmlformats.org/officeDocument/2006/relationships/slide" Target="/ppt/slides/slide11.xml" Id="R724372c5a2af483f" /><Relationship Type="http://schemas.openxmlformats.org/officeDocument/2006/relationships/slide" Target="/ppt/slides/slide12.xml" Id="Re221093c838a43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71b81b20414d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702b322cfc4cb5" /><Relationship Type="http://schemas.openxmlformats.org/officeDocument/2006/relationships/notesMaster" Target="/ppt/notesMasters/notesMaster1.xml" Id="Rceb6cc2ed24942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0b51b615754bb4" /><Relationship Type="http://schemas.openxmlformats.org/officeDocument/2006/relationships/notesMaster" Target="/ppt/notesMasters/notesMaster1.xml" Id="R67d0a6520a6c46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de07a229a84e69" /><Relationship Type="http://schemas.openxmlformats.org/officeDocument/2006/relationships/notesMaster" Target="/ppt/notesMasters/notesMaster1.xml" Id="R86a96ec42dad48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c696bf41e94296" /><Relationship Type="http://schemas.openxmlformats.org/officeDocument/2006/relationships/notesMaster" Target="/ppt/notesMasters/notesMaster1.xml" Id="R5206d1eefc3543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b22d06ec704add" /><Relationship Type="http://schemas.openxmlformats.org/officeDocument/2006/relationships/notesMaster" Target="/ppt/notesMasters/notesMaster1.xml" Id="Re785b5e887d64f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77aca4f50a544aa" /><Relationship Type="http://schemas.openxmlformats.org/officeDocument/2006/relationships/notesMaster" Target="/ppt/notesMasters/notesMaster1.xml" Id="R186d09ee6e9a43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49d36efd8c4942" /><Relationship Type="http://schemas.openxmlformats.org/officeDocument/2006/relationships/notesMaster" Target="/ppt/notesMasters/notesMaster1.xml" Id="Rd3b53a6c1f8a47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556ceca58044dc" /><Relationship Type="http://schemas.openxmlformats.org/officeDocument/2006/relationships/notesMaster" Target="/ppt/notesMasters/notesMaster1.xml" Id="Rc032bc7da00f44b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b5bdf3d0434e32" /><Relationship Type="http://schemas.openxmlformats.org/officeDocument/2006/relationships/notesMaster" Target="/ppt/notesMasters/notesMaster1.xml" Id="R229f6f99c6c947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47e6661ac044d4" /><Relationship Type="http://schemas.openxmlformats.org/officeDocument/2006/relationships/notesMaster" Target="/ppt/notesMasters/notesMaster1.xml" Id="Rc0813a7944f246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2546433bc094008" /><Relationship Type="http://schemas.openxmlformats.org/officeDocument/2006/relationships/notesMaster" Target="/ppt/notesMasters/notesMaster1.xml" Id="Rcc3bb3845eb840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72e08addea42fa" /><Relationship Type="http://schemas.openxmlformats.org/officeDocument/2006/relationships/notesMaster" Target="/ppt/notesMasters/notesMaster1.xml" Id="R1fd0b78fdd2342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User-confirmed registered team and college details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README.md; project/docs/FUSION.md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project/DATA_CONTRACT.md; project/docs/FUSION.md; https://physionet.org/content/cgmacros/1.0.0/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project/docs/FUSION.md; project/configs/event_study_gpu_v2.json; project/scripts/run_event_study.py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project/scripts/serve_dashboard.py; project/src/glucotwin/event_replay.py; project/docs/EVENT_REPLAY.md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project/web/app.js; project/docs/API.md; project/docs/EVENT_REPLAY.md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project/src/glucotwin/episodes.py; project/src/glucotwin/event_study.py; project/docs/RESULTS.md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project/reports/event_study_gpu_v2.json; project/docs/RESULTS.md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project/docs/RESULTS.md; project/docs/FUSION.md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project/docs/RESULTS.md; project/DATA_CONTRACT.md; project/EVALUATION_PROTOCOL.md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project/docs/REPRODUCTION.md; README.md; project/LICENSE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7ad7c70b174d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c07e49d2d64d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3a2dfe48945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816a4ed2a49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ecc0a42a78436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d5dc4e5e3944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E051CD-1264-4785-8130-2234AD31A1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D3C0FE9-9B2C-442B-B11A-0A71A3942AA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ACB14D7-6C0C-4A9A-8B02-BADB718442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2C1D3D9-D315-48DC-B1B8-DD0E5D5A22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DFA82EF-BCF7-46C1-B061-F194AC56A1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AADA053-5BD3-4291-800B-056CFFC6C9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56AFE28-DA8C-4F6A-B2B3-DCAD200448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3D3A46F-0F18-4746-861C-03A08CE2D8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951F33-4E8B-42DA-99FA-E8CFD6409D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E83A8C7-BC52-4E29-8A6B-500A5E89AB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6c817937c94f81" /><Relationship Type="http://schemas.openxmlformats.org/officeDocument/2006/relationships/slideLayout" Target="/ppt/slideLayouts/slideLayout1.xml" Id="R0e998eef04204ed7" /><Relationship Type="http://schemas.openxmlformats.org/officeDocument/2006/relationships/slideLayout" Target="/ppt/slideLayouts/slideLayout2.xml" Id="Ra954d69d2b324f39" /><Relationship Type="http://schemas.openxmlformats.org/officeDocument/2006/relationships/slideLayout" Target="/ppt/slideLayouts/slideLayout3.xml" Id="R281d56d581514f40" /><Relationship Type="http://schemas.openxmlformats.org/officeDocument/2006/relationships/slideLayout" Target="/ppt/slideLayouts/slideLayout4.xml" Id="R25ae80f49db6490a" /><Relationship Type="http://schemas.openxmlformats.org/officeDocument/2006/relationships/slideLayout" Target="/ppt/slideLayouts/slideLayout5.xml" Id="R040959e198554655" /><Relationship Type="http://schemas.openxmlformats.org/officeDocument/2006/relationships/slideLayout" Target="/ppt/slideLayouts/slideLayout6.xml" Id="R58996c5be5b246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998eef04204ed7"/>
    <p:sldLayoutId xmlns:r="http://schemas.openxmlformats.org/officeDocument/2006/relationships" id="2147483650" r:id="Ra954d69d2b324f39"/>
    <p:sldLayoutId xmlns:r="http://schemas.openxmlformats.org/officeDocument/2006/relationships" id="2147483651" r:id="R281d56d581514f40"/>
    <p:sldLayoutId xmlns:r="http://schemas.openxmlformats.org/officeDocument/2006/relationships" id="2147483652" r:id="R25ae80f49db6490a"/>
    <p:sldLayoutId xmlns:r="http://schemas.openxmlformats.org/officeDocument/2006/relationships" id="2147483653" r:id="R040959e198554655"/>
    <p:sldLayoutId xmlns:r="http://schemas.openxmlformats.org/officeDocument/2006/relationships" id="2147483654" r:id="R58996c5be5b246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694f5d678a4506" /><Relationship Type="http://schemas.openxmlformats.org/officeDocument/2006/relationships/notesSlide" Target="/ppt/notesSlides/notesSlide1.xml" Id="Rb8d229f54e5146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f11f5e48ab4c5e" /><Relationship Type="http://schemas.openxmlformats.org/officeDocument/2006/relationships/notesSlide" Target="/ppt/notesSlides/notesSlide2.xml" Id="Rcb5947873b2549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c55b3271ae4892" /><Relationship Type="http://schemas.openxmlformats.org/officeDocument/2006/relationships/notesSlide" Target="/ppt/notesSlides/notesSlide3.xml" Id="R056a5a71d55447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e2b46d290a48dc" /><Relationship Type="http://schemas.openxmlformats.org/officeDocument/2006/relationships/notesSlide" Target="/ppt/notesSlides/notesSlide4.xml" Id="R37e8dcc0ea374c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6cf9e6937c4247" /><Relationship Type="http://schemas.openxmlformats.org/officeDocument/2006/relationships/notesSlide" Target="/ppt/notesSlides/notesSlide5.xml" Id="Rde255050538e49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af32eb23eb4608" /><Relationship Type="http://schemas.openxmlformats.org/officeDocument/2006/relationships/notesSlide" Target="/ppt/notesSlides/notesSlide6.xml" Id="Rf7b348b85a084a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0c2b41551242ec" /><Relationship Type="http://schemas.openxmlformats.org/officeDocument/2006/relationships/notesSlide" Target="/ppt/notesSlides/notesSlide7.xml" Id="Reaf91301b2a645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4e515311254511" /><Relationship Type="http://schemas.openxmlformats.org/officeDocument/2006/relationships/notesSlide" Target="/ppt/notesSlides/notesSlide8.xml" Id="R83b20aa1b5bd46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e5a61801a54039" /><Relationship Type="http://schemas.openxmlformats.org/officeDocument/2006/relationships/notesSlide" Target="/ppt/notesSlides/notesSlide9.xml" Id="R40ffc42ea1f64f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efbabeb1944aa5" /><Relationship Type="http://schemas.openxmlformats.org/officeDocument/2006/relationships/notesSlide" Target="/ppt/notesSlides/notesSlide10.xml" Id="Re3afd0adbb1e4ee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afa715989f444f" /><Relationship Type="http://schemas.openxmlformats.org/officeDocument/2006/relationships/notesSlide" Target="/ppt/notesSlides/notesSlide11.xml" Id="Rd661308672a243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4565bd0caf4459" /><Relationship Type="http://schemas.openxmlformats.org/officeDocument/2006/relationships/notesSlide" Target="/ppt/notesSlides/notesSlide12.xml" Id="Rcb761f832baf45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C8331E-44C8-4015-A9FE-674200E9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10D88-9711-4452-A704-4E96D61D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850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850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GlucoTwin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CE5BD-603C-4BD0-A6F8-91357C43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67C74"/>
                </a:solidFill>
                <a:latin typeface="Arial"/>
                <a:ea typeface="Arial"/>
                <a:cs typeface="Arial"/>
              </a:rPr>
              <a:t>A virtual patient workspace for glucose forecasting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60EEF-A49F-4390-8B5F-C6DE8A0B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Historical clinical context + wearable sensor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A553D-A0AB-47AC-B074-7AB102D8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Research prototype | 11 October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68DF0-1C48-4C47-9463-0F5DC40D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3188606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D22536-57CA-4C3D-9DD5-3BBEF12A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4991F-CEC8-4733-A9A2-0F9A683C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Team arnavmodi23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8C217-9876-4FAB-8CE9-32A6040C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Arnav Modi - Team leader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0C4FC-938B-46BD-A3A2-93C4D5B9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Harjot Singh - Team 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8E5B19-1D23-4548-9490-23D0BE16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Arnav Kumar - Team member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3E86A-4ADF-49D6-BC11-FB1A5A8B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Maharaja Surajmal Institute of Technology (MSIT), Delhi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143DB8-4735-4ED3-AE12-A22561D5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2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6209384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3DCD3-8014-4C78-94D6-F8F7EC4A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6252E-DE79-41CC-B06D-7F6579DF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Problem and healthcare use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906778-330D-4E39-A319-66EC9560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 clinician needs to see how recent glucose changes relate to a patient's historical clinical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E524E-71C5-4487-9B88-BD66753D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GlucoTwin links the profile to visible sensor history and fixed future forecasts.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B824F-C947-4B18-8CE2-1AFB8D4E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The research objective is advance prediction of a new sustained high-glucose episode.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47AA1-3BFC-4BA8-8AF7-C985A62E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3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3418318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DD5B2-D809-415E-92BD-6B5C7484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D5538-B051-4BB9-877A-FBFCDDEB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Linked historical and sensor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2EC60-5D05-4C59-840F-DD9C83E9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historical input: age, recorded sex, BMI, baseline HbA1c and fasting glucose.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0B1EB-79F9-4590-9E14-984FF11C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Dynamic input: CGM glucose and heart rate, linked to the same patient.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745B8F-75C3-453E-8C9C-9CCC6741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Retrospective replay; CGM samples are reconstructed and clinical availability is assumed.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193C9-1858-42C1-9A5F-B55207A5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4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2009166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1F1D9-24F7-415B-A5C8-EA572034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D9789C-CE2F-4A0B-84F1-EDEA8DB9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Fusion inside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6F5599-5731-4332-8DDA-65096634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Both streams enter the same fitted feature vector; the profile is more than display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6468C-40E0-4400-AF2B-3E47F523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uses 5 historical fields, 22 CGM features and 9 heart-rate features.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91669F-677B-4195-8EE5-50F39D16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Imputation and scaling use fitting patients only. Fusion's predictive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0EBD65-C126-400D-A0C4-A841FDAA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5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859609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52696-BD89-4A2F-8591-98451431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FC22F-D8AB-40D2-9477-18932FA2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Runtime and research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6ADF6-AEAB-4397-A951-941ED208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Historical profile + available sensor history -&gt; causal features -&gt; saved fused Ridge -&gt; local Python API -&gt; browser replay.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25734-4B07-4716-A9A1-42812A3E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Separate saved XGBoost path -&gt; uncalibrated onset score and frozen cutoff -&gt; research decision ledger with delayed outcomes.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CA5A92-A017-46C9-8485-64707510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Patient replay uses saved models and the fold that excluded this patient. Research decisions remain separate from clinical alerts.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D8CE02-F293-48AA-986C-CC95E08F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6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3560299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89037-1935-4729-B06B-20EF781B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E0A1F6-CC93-4731-B95B-2D78DC2D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Clinician interaction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A66E2-2ED4-46E9-8177-97C3561C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Inspect historical profile, sensor coverage and visible glucose history.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301E88-329D-40AB-8604-64835A94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Advance the replay; forecasts stay fixed when issued. Outcomes appear only when available.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4E461-FDD0-4F19-B5FD-D943D6A4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Compare model error with persistence, switch patients and examine missing observations.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BAD2E-551C-483F-BBA1-BF21B6A6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event research: fixed score/cutoff/decision; outcome hidden until issue time +45 minutes.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735B5-7DC2-4AC0-9372-1242025F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7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204209126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D9EDE-5BCD-4618-B7C5-9D39E0A8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492298-3C3A-452D-8E93-D598ADAC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Advance-event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81BAD-36B7-4822-A8AC-2AF13DD4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New sustained high onset: 4 consecutive five-minute readings above 180 mg/dL, after 7 readings at or below 180.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22AA75-8BB6-4025-993C-94C823E6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Prediction window: onset 5-30 minutes ahead. Features contain only past information.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3B68C4-E47C-48DD-B345-5EF6BFAA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27 development patients; 3 outer folds separate fitting, cutoff setting and evaluation. Six reserved patients remain unscored.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56598-DB80-4EE7-9AD6-C90E911F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8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9252373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D93BC-CE7B-40E5-97B3-24AF99F7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2E5F80-F787-40C1-AEA7-F8C72EBE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Measured event prediction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E40FB-4EAC-4E27-BB17-5A076C24D639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00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Fused XGBoost v2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Episodes detected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229 / 336 (68.2%)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Conservative precision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52.8%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False alarms / eligible day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0.98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Median detected-event lead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10 minutes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A9F4F-E44D-4E07-8B39-642938AA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Development results. Cutoff-setting folds were not consistently successful; patient intervals cross gate limits.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3D22D-99D1-428F-AAD3-6F62FE24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9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4077250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230D3-1E36-4023-833D-06BEA26B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2A4B-E047-4263-8108-1A55399A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Numerical forecast results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C63CCA-401E-43EC-B006-06744541BB84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2400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000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Cohort / horizon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Ridge MAE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Persistence MAE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CGMacros / 60 min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19.00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19.99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RBG / 30 min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17.59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20.71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RBG / 60 min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28.89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32.53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96634-3151-4931-832B-09AD1B82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Units: mg/dL. Separate development cohorts and timing protocols. RBG profile-fused values match the original CGM-only benchmark after rounding.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6210B-D445-4433-9CDD-177F8DD0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10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5913560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58C7CF-5A3F-446E-8CE0-57488802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AA37A7-2B73-4209-8797-7EAEEFE9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Current model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FEC93-A862-4612-AF32-551A8C4C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Only 36.6% of evaluable high episodes received at least ten minutes warning. Cutoff-setting folds did not consistently pass.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AA578-36AC-40B4-A1CB-4733EDE9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Low-glucose numerical errors remain a weakness. Overall MAE is not a clinical safety guarantee.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B7C8F-57F4-4E79-834F-35806DF4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samples are reconstructed; historical profile availability is assumed. A useful clinical-fusion advantage is not established.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67F88-F15C-4F92-AF7F-6A7E7814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No clinical validation or reserved-test performance. Risk percentages, operational alerts and treatment advice remain disabled.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9A8DDA-4B1C-4436-8EB9-3B4828C1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11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3101376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11D363-8A87-43A5-869A-9407F4D2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22B51-719A-4C70-AAC4-BC19A395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Reproducibility and remaining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87F4A-8EC4-47E5-907E-520864E9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Python + scikit-learn + XGBoost; HTML/CSS/JavaScript browser. Measured studies ran on local CPU.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73E9E-F88D-4740-B70E-F04F3731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The repository contains the active application, model preparation code, essential documentation and current-model checks. Records and model binaries stay local.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6E399E-9B05-4FC8-8DBD-187FE428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Next: freeze a final model/cutoff policy before using reserved data. Research replay does not establish clinical reliability.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3AE45E-9E08-472C-BC6A-AE3AF270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Original code: MIT License. Dataset terms remain separate. Video preparation is deferred.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BB849-C101-4640-8100-760B203A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12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20119904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2026-10-11T10:34:04.0590000Z</dcterms:created>
  <dcterms:modified xsi:type="dcterms:W3CDTF">2026-10-11T10:34:04.0590000Z</dcterms:modified>
</coreProperties>
</file>