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d01c7f365f4aef" /><Relationship Type="http://schemas.openxmlformats.org/officeDocument/2006/relationships/extended-properties" Target="/docProps/app.xml" Id="Rde7662ba7ff749c5" /><Relationship Type="http://schemas.openxmlformats.org/officeDocument/2006/relationships/officeDocument" Target="/ppt/presentation.xml" Id="Rb83a3d540ef649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44ef7882724db7"/>
  </p:sldMasterIdLst>
  <p:notesMasterIdLst>
    <p:notesMasterId xmlns:r="http://schemas.openxmlformats.org/officeDocument/2006/relationships" r:id="R2e037f3d9d3240c1"/>
  </p:notesMasterIdLst>
  <p:sldIdLst>
    <p:sldId xmlns:r="http://schemas.openxmlformats.org/officeDocument/2006/relationships" id="256" r:id="Rbd4590afc9264ebb"/>
    <p:sldId xmlns:r="http://schemas.openxmlformats.org/officeDocument/2006/relationships" id="257" r:id="R2ca6d24e5a0944da"/>
    <p:sldId xmlns:r="http://schemas.openxmlformats.org/officeDocument/2006/relationships" id="258" r:id="R6316f18425014516"/>
    <p:sldId xmlns:r="http://schemas.openxmlformats.org/officeDocument/2006/relationships" id="259" r:id="R098666c84d6f4fe4"/>
    <p:sldId xmlns:r="http://schemas.openxmlformats.org/officeDocument/2006/relationships" id="260" r:id="Rbad316edd35c43c1"/>
    <p:sldId xmlns:r="http://schemas.openxmlformats.org/officeDocument/2006/relationships" id="261" r:id="Rf7a5ad4294a4411c"/>
    <p:sldId xmlns:r="http://schemas.openxmlformats.org/officeDocument/2006/relationships" id="262" r:id="R8425fd2830984f24"/>
    <p:sldId xmlns:r="http://schemas.openxmlformats.org/officeDocument/2006/relationships" id="263" r:id="R86782c00413c4284"/>
    <p:sldId xmlns:r="http://schemas.openxmlformats.org/officeDocument/2006/relationships" id="264" r:id="Rfd6faa993ef444c1"/>
    <p:sldId xmlns:r="http://schemas.openxmlformats.org/officeDocument/2006/relationships" id="265" r:id="R6d1bc65b8da04de9"/>
    <p:sldId xmlns:r="http://schemas.openxmlformats.org/officeDocument/2006/relationships" id="266" r:id="R8f706a14002344e4"/>
    <p:sldId xmlns:r="http://schemas.openxmlformats.org/officeDocument/2006/relationships" id="267" r:id="Rb2a2ca306d514718"/>
    <p:sldId xmlns:r="http://schemas.openxmlformats.org/officeDocument/2006/relationships" id="268" r:id="Rc39c816a021841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bba4ddea624abd" /><Relationship Type="http://schemas.openxmlformats.org/officeDocument/2006/relationships/slideMaster" Target="/ppt/slideMasters/slideMaster1.xml" Id="R2344ef7882724db7" /><Relationship Type="http://schemas.openxmlformats.org/officeDocument/2006/relationships/notesMaster" Target="/ppt/notesMasters/notesMaster1.xml" Id="R2e037f3d9d3240c1" /><Relationship Type="http://schemas.openxmlformats.org/officeDocument/2006/relationships/presProps" Target="/ppt/presProps.xml" Id="R88456c7997b24922" /><Relationship Type="http://schemas.openxmlformats.org/officeDocument/2006/relationships/tableStyles" Target="/ppt/tableStyles.xml" Id="R49abff04b8cf41a0" /><Relationship Type="http://schemas.openxmlformats.org/officeDocument/2006/relationships/slide" Target="/ppt/slides/slide1.xml" Id="Rbd4590afc9264ebb" /><Relationship Type="http://schemas.openxmlformats.org/officeDocument/2006/relationships/slide" Target="/ppt/slides/slide2.xml" Id="R2ca6d24e5a0944da" /><Relationship Type="http://schemas.openxmlformats.org/officeDocument/2006/relationships/slide" Target="/ppt/slides/slide3.xml" Id="R6316f18425014516" /><Relationship Type="http://schemas.openxmlformats.org/officeDocument/2006/relationships/slide" Target="/ppt/slides/slide4.xml" Id="R098666c84d6f4fe4" /><Relationship Type="http://schemas.openxmlformats.org/officeDocument/2006/relationships/slide" Target="/ppt/slides/slide5.xml" Id="Rbad316edd35c43c1" /><Relationship Type="http://schemas.openxmlformats.org/officeDocument/2006/relationships/slide" Target="/ppt/slides/slide6.xml" Id="Rf7a5ad4294a4411c" /><Relationship Type="http://schemas.openxmlformats.org/officeDocument/2006/relationships/slide" Target="/ppt/slides/slide7.xml" Id="R8425fd2830984f24" /><Relationship Type="http://schemas.openxmlformats.org/officeDocument/2006/relationships/slide" Target="/ppt/slides/slide8.xml" Id="R86782c00413c4284" /><Relationship Type="http://schemas.openxmlformats.org/officeDocument/2006/relationships/slide" Target="/ppt/slides/slide9.xml" Id="Rfd6faa993ef444c1" /><Relationship Type="http://schemas.openxmlformats.org/officeDocument/2006/relationships/slide" Target="/ppt/slides/slide10.xml" Id="R6d1bc65b8da04de9" /><Relationship Type="http://schemas.openxmlformats.org/officeDocument/2006/relationships/slide" Target="/ppt/slides/slide11.xml" Id="R8f706a14002344e4" /><Relationship Type="http://schemas.openxmlformats.org/officeDocument/2006/relationships/slide" Target="/ppt/slides/slide12.xml" Id="Rb2a2ca306d514718" /><Relationship Type="http://schemas.openxmlformats.org/officeDocument/2006/relationships/slide" Target="/ppt/slides/slide13.xml" Id="Rc39c816a021841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7cbca8e8af42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8ea957e2e44a28" /><Relationship Type="http://schemas.openxmlformats.org/officeDocument/2006/relationships/notesMaster" Target="/ppt/notesMasters/notesMaster1.xml" Id="R8971b1ba5c5042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1950dc78bd4981" /><Relationship Type="http://schemas.openxmlformats.org/officeDocument/2006/relationships/notesMaster" Target="/ppt/notesMasters/notesMaster1.xml" Id="R327f7d52fa5d47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7ca63c60064cff" /><Relationship Type="http://schemas.openxmlformats.org/officeDocument/2006/relationships/notesMaster" Target="/ppt/notesMasters/notesMaster1.xml" Id="R3a39c1756b2d41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069cfd67d84d33" /><Relationship Type="http://schemas.openxmlformats.org/officeDocument/2006/relationships/notesMaster" Target="/ppt/notesMasters/notesMaster1.xml" Id="Rf1c5119b1ac54c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085aa8ecce4249" /><Relationship Type="http://schemas.openxmlformats.org/officeDocument/2006/relationships/notesMaster" Target="/ppt/notesMasters/notesMaster1.xml" Id="R0a960cccaa1848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65921db4324435" /><Relationship Type="http://schemas.openxmlformats.org/officeDocument/2006/relationships/notesMaster" Target="/ppt/notesMasters/notesMaster1.xml" Id="Ra005fc26367e46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001dcf4d5941e1" /><Relationship Type="http://schemas.openxmlformats.org/officeDocument/2006/relationships/notesMaster" Target="/ppt/notesMasters/notesMaster1.xml" Id="Rfbf7323e1b7b47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9365c75ec540ab" /><Relationship Type="http://schemas.openxmlformats.org/officeDocument/2006/relationships/notesMaster" Target="/ppt/notesMasters/notesMaster1.xml" Id="R701b9136da7b45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ea9e1dd7cb496f" /><Relationship Type="http://schemas.openxmlformats.org/officeDocument/2006/relationships/notesMaster" Target="/ppt/notesMasters/notesMaster1.xml" Id="R74d3e6ffd31744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094278b18c4639" /><Relationship Type="http://schemas.openxmlformats.org/officeDocument/2006/relationships/notesMaster" Target="/ppt/notesMasters/notesMaster1.xml" Id="Rccbe3a7962c944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beb649c5c145f9" /><Relationship Type="http://schemas.openxmlformats.org/officeDocument/2006/relationships/notesMaster" Target="/ppt/notesMasters/notesMaster1.xml" Id="R83c039b877eb43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6613f501a44649" /><Relationship Type="http://schemas.openxmlformats.org/officeDocument/2006/relationships/notesMaster" Target="/ppt/notesMasters/notesMaster1.xml" Id="R9f027f2b34cb45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f4142e42954435" /><Relationship Type="http://schemas.openxmlformats.org/officeDocument/2006/relationships/notesMaster" Target="/ppt/notesMasters/notesMaster1.xml" Id="R8afc7410e0e942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</a:t>
            </a:r>
          </a:p>
          <a:p xmlns:a="http://schemas.openxmlformats.org/drawingml/2006/main">
            <a:r>
              <a:t>Current-state research evidence; keep cohorts and tasks separate. Video work is deferred.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User-confirmed registered team and college details</a:t>
            </a:r>
          </a:p>
          <a:p xmlns:a="http://schemas.openxmlformats.org/drawingml/2006/main">
            <a:r>
              <a:t>Current-state research evidence; keep cohorts and tasks separate. Video work is deferred.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README.md; project/docs/FUSION.md</a:t>
            </a:r>
          </a:p>
          <a:p xmlns:a="http://schemas.openxmlformats.org/drawingml/2006/main">
            <a:r>
              <a:t>Current-state research evidence; keep cohorts and tasks separate. Video work is deferred.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project/DATA_CONTRACT.md; project/docs/FUSION.md; https://physionet.org/content/cgmacros/1.0.0/</a:t>
            </a:r>
          </a:p>
          <a:p xmlns:a="http://schemas.openxmlformats.org/drawingml/2006/main">
            <a:r>
              <a:t>Current-state research evidence; keep cohorts and tasks separate. Video work is deferred.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CGMacros inputs and feature counts: project/docs/FUSION.md and features.py. Neither source cohort is a complete hospital EHR. No arbitrary labs are attached to real patients.</a:t>
            </a:r>
          </a:p>
          <a:p xmlns:a="http://schemas.openxmlformats.org/drawingml/2006/main">
            <a:r>
              <a:t>Editable Figma blueprint: https://www.figma.com/design/hrTQZOj6fL2W2cu9ghWN7Y</a:t>
            </a:r>
          </a:p>
          <a:p xmlns:a="http://schemas.openxmlformats.org/drawingml/2006/main">
            <a:r>
              <a:t>Project source: https://github.com/ArnavModi-MSIT/GlucoTwin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verified against serve_dashboard.py, artifacts.py, features.py, replay.py and event_replay.py. Research path; fictional demo and CSV import are shown separately in the review workflow.</a:t>
            </a:r>
          </a:p>
          <a:p xmlns:a="http://schemas.openxmlformats.org/drawingml/2006/main">
            <a:r>
              <a:t>Editable Figma blueprint: https://www.figma.com/design/hrTQZOj6fL2W2cu9ghWN7Y</a:t>
            </a:r>
          </a:p>
          <a:p xmlns:a="http://schemas.openxmlformats.org/drawingml/2006/main">
            <a:r>
              <a:t>Project source: https://github.com/ArnavModi-MSIT/GlucoTwin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Numerical causal timing follows replay.py and rbg_replay.py. Withheld attempts have no accuracy outcome. Event research evaluation requires the full five-to-thirty-minute onset window and confirmation through issue +45 minutes.</a:t>
            </a:r>
          </a:p>
          <a:p xmlns:a="http://schemas.openxmlformats.org/drawingml/2006/main">
            <a:r>
              <a:t>Editable Figma blueprint: https://www.figma.com/design/hrTQZOj6fL2W2cu9ghWN7Y</a:t>
            </a:r>
          </a:p>
          <a:p xmlns:a="http://schemas.openxmlformats.org/drawingml/2006/main">
            <a:r>
              <a:t>Project source: https://github.com/ArnavModi-MSIT/GlucoTwin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review features verified against project/docs/PATIENT_REVIEW.md and CSV_IMPORT.md. Reports are descriptive research outputs. Notes and prescribed reminders do not train or change the forecast model.</a:t>
            </a:r>
          </a:p>
          <a:p xmlns:a="http://schemas.openxmlformats.org/drawingml/2006/main">
            <a:r>
              <a:t>Editable Figma blueprint: https://www.figma.com/design/hrTQZOj6fL2W2cu9ghWN7Y</a:t>
            </a:r>
          </a:p>
          <a:p xmlns:a="http://schemas.openxmlformats.org/drawingml/2006/main">
            <a:r>
              <a:t>Project source: https://github.com/ArnavModi-MSIT/GlucoTwin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project/src/glucotwin/episodes.py; project/src/glucotwin/event_study.py; project/docs/RESULTS.md</a:t>
            </a:r>
          </a:p>
          <a:p xmlns:a="http://schemas.openxmlformats.org/drawingml/2006/main">
            <a:r>
              <a:t>Current-state research evidence; keep cohorts and tasks separate. Video work is deferred.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project/reports/event_study_gpu_v2.json; project/docs/RESULTS.md</a:t>
            </a:r>
          </a:p>
          <a:p xmlns:a="http://schemas.openxmlformats.org/drawingml/2006/main">
            <a:r>
              <a:t>Current-state research evidence; keep cohorts and tasks separate. Video work is deferred.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project/docs/RESULTS.md; project/docs/FUSION.md</a:t>
            </a:r>
          </a:p>
          <a:p xmlns:a="http://schemas.openxmlformats.org/drawingml/2006/main">
            <a:r>
              <a:t>Current-state research evidence; keep cohorts and tasks separate. Video work is deferred.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project/docs/RESULTS.md; project/DATA_CONTRACT.md; project/EVALUATION_PROTOCOL.md</a:t>
            </a:r>
          </a:p>
          <a:p xmlns:a="http://schemas.openxmlformats.org/drawingml/2006/main">
            <a:r>
              <a:t>Current-state research evidence; keep cohorts and tasks separate. Video work is deferred.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project/docs/REPRODUCTION.md; README.md; project/LICENSE</a:t>
            </a:r>
          </a:p>
          <a:p xmlns:a="http://schemas.openxmlformats.org/drawingml/2006/main">
            <a:r>
              <a:t>Current-state research evidence; keep cohorts and tasks separate. Video work is deferred.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183fa5bb147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83944ad9e141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4be753f384d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5ad4712983465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5814a4aafe44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82ff0ea7f47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E051CD-1264-4785-8130-2234AD31A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3C0FE9-9B2C-442B-B11A-0A71A3942A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CB14D7-6C0C-4A9A-8B02-BADB718442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C1D3D9-D315-48DC-B1B8-DD0E5D5A22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FA82EF-BCF7-46C1-B061-F194AC56A1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ADA053-5BD3-4291-800B-056CFFC6C9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6AFE28-DA8C-4F6A-B2B3-DCAD200448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3D3A46F-0F18-4746-861C-03A08CE2D8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951F33-4E8B-42DA-99FA-E8CFD6409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83A8C7-BC52-4E29-8A6B-500A5E89AB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1186b91f3c4047" /><Relationship Type="http://schemas.openxmlformats.org/officeDocument/2006/relationships/slideLayout" Target="/ppt/slideLayouts/slideLayout1.xml" Id="R59bf615f17e04cb0" /><Relationship Type="http://schemas.openxmlformats.org/officeDocument/2006/relationships/slideLayout" Target="/ppt/slideLayouts/slideLayout2.xml" Id="R8ecc540b7da84d36" /><Relationship Type="http://schemas.openxmlformats.org/officeDocument/2006/relationships/slideLayout" Target="/ppt/slideLayouts/slideLayout3.xml" Id="Ra393e48f260e45f3" /><Relationship Type="http://schemas.openxmlformats.org/officeDocument/2006/relationships/slideLayout" Target="/ppt/slideLayouts/slideLayout4.xml" Id="Re8d058a7b03b4b55" /><Relationship Type="http://schemas.openxmlformats.org/officeDocument/2006/relationships/slideLayout" Target="/ppt/slideLayouts/slideLayout5.xml" Id="Ra04d0140fae84c22" /><Relationship Type="http://schemas.openxmlformats.org/officeDocument/2006/relationships/slideLayout" Target="/ppt/slideLayouts/slideLayout6.xml" Id="R8bfb14c967bc44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bf615f17e04cb0"/>
    <p:sldLayoutId xmlns:r="http://schemas.openxmlformats.org/officeDocument/2006/relationships" id="2147483650" r:id="R8ecc540b7da84d36"/>
    <p:sldLayoutId xmlns:r="http://schemas.openxmlformats.org/officeDocument/2006/relationships" id="2147483651" r:id="Ra393e48f260e45f3"/>
    <p:sldLayoutId xmlns:r="http://schemas.openxmlformats.org/officeDocument/2006/relationships" id="2147483652" r:id="Re8d058a7b03b4b55"/>
    <p:sldLayoutId xmlns:r="http://schemas.openxmlformats.org/officeDocument/2006/relationships" id="2147483653" r:id="Ra04d0140fae84c22"/>
    <p:sldLayoutId xmlns:r="http://schemas.openxmlformats.org/officeDocument/2006/relationships" id="2147483654" r:id="R8bfb14c967bc44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ac5a1874f4e09" /><Relationship Type="http://schemas.openxmlformats.org/officeDocument/2006/relationships/notesSlide" Target="/ppt/notesSlides/notesSlide1.xml" Id="Rb8f8a1ade5b342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cec721a4c44721" /><Relationship Type="http://schemas.openxmlformats.org/officeDocument/2006/relationships/notesSlide" Target="/ppt/notesSlides/notesSlide2.xml" Id="Re0814a453f9d40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723c0457ca4de5" /><Relationship Type="http://schemas.openxmlformats.org/officeDocument/2006/relationships/notesSlide" Target="/ppt/notesSlides/notesSlide3.xml" Id="Rb54d8df25dd549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1a9147f4fd4042" /><Relationship Type="http://schemas.openxmlformats.org/officeDocument/2006/relationships/notesSlide" Target="/ppt/notesSlides/notesSlide4.xml" Id="R0ab36eaa0cd94e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d9d9bdcd054825" /><Relationship Type="http://schemas.openxmlformats.org/officeDocument/2006/relationships/notesSlide" Target="/ppt/notesSlides/notesSlide5.xml" Id="R8cb15b164c3144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9b80e46d7b4151" /><Relationship Type="http://schemas.openxmlformats.org/officeDocument/2006/relationships/notesSlide" Target="/ppt/notesSlides/notesSlide6.xml" Id="Re928671f34cc4b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b5f46aa9a7458d" /><Relationship Type="http://schemas.openxmlformats.org/officeDocument/2006/relationships/notesSlide" Target="/ppt/notesSlides/notesSlide7.xml" Id="R2fdf16c6b1af43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48898cfb45495d" /><Relationship Type="http://schemas.openxmlformats.org/officeDocument/2006/relationships/notesSlide" Target="/ppt/notesSlides/notesSlide8.xml" Id="Re0bef73015bb46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2d4378a9ee4138" /><Relationship Type="http://schemas.openxmlformats.org/officeDocument/2006/relationships/notesSlide" Target="/ppt/notesSlides/notesSlide9.xml" Id="R08ed9819d92f4a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9baaee98744179" /><Relationship Type="http://schemas.openxmlformats.org/officeDocument/2006/relationships/notesSlide" Target="/ppt/notesSlides/notesSlide10.xml" Id="R7699c70dbd2f47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d56ffa1dc94939" /><Relationship Type="http://schemas.openxmlformats.org/officeDocument/2006/relationships/notesSlide" Target="/ppt/notesSlides/notesSlide11.xml" Id="R4d5f7ec7ff0b45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4f30b901ce4bd9" /><Relationship Type="http://schemas.openxmlformats.org/officeDocument/2006/relationships/notesSlide" Target="/ppt/notesSlides/notesSlide12.xml" Id="R347dc26177664f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00faeb8a984e3f" /><Relationship Type="http://schemas.openxmlformats.org/officeDocument/2006/relationships/notesSlide" Target="/ppt/notesSlides/notesSlide13.xml" Id="R34028f57b7b943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8331E-44C8-4015-A9FE-674200E9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74"/>
                </a:solidFill>
                <a:latin typeface="Arial"/>
                <a:ea typeface="Arial"/>
                <a:cs typeface="Arial"/>
              </a:rPr>
              <a:t>GLUCOTWIN  /  RESEARCH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10D88-9711-4452-A704-4E96D61D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85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GlucoTwin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CE5BD-603C-4BD0-A6F8-91357C43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67C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700" b="0">
                <a:solidFill>
                  <a:srgbClr val="167C74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67C74"/>
                </a:solidFill>
                <a:latin typeface="Arial"/>
                <a:ea typeface="Arial"/>
                <a:cs typeface="Arial"/>
              </a:rPr>
              <a:t>A virtual patient workspace for glucose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60EEF-A49F-4390-8B5F-C6DE8A0B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Historical clinical context + wearable sensor history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A553D-A0AB-47AC-B074-7AB102D8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Research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68DF0-1C48-4C47-9463-0F5DC40D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1 / 13</a:t>
            </a:r>
          </a:p>
        </p:txBody>
      </p:sp>
    </p:spTree>
    <p:extLst>
      <p:ext uri="{BB962C8B-B14F-4D97-AF65-F5344CB8AC3E}">
        <p14:creationId xmlns:p14="http://schemas.microsoft.com/office/powerpoint/2010/main" val="13188606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22536-57CA-4C3D-9DD5-3BBEF12A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74"/>
                </a:solidFill>
                <a:latin typeface="Arial"/>
                <a:ea typeface="Arial"/>
                <a:cs typeface="Arial"/>
              </a:rPr>
              <a:t>GLUCOTWIN  /  RESEARCH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4991F-CEC8-4733-A9A2-0F9A683C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825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Team arnavmodi23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8C217-9876-4FAB-8CE9-32A6040C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Arnav Modi - Team leader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0C4FC-938B-46BD-A3A2-93C4D5B9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Harjot Singh - Team member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E5B19-1D23-4548-9490-23D0BE16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Arnav Kumar - Team member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3E86A-4ADF-49D6-BC11-FB1A5A8B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Maharaja Surajmal Institute of Technology (MSIT), Delhi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43DB8-4735-4ED3-AE12-A22561D5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2 / 13</a:t>
            </a:r>
          </a:p>
        </p:txBody>
      </p:sp>
    </p:spTree>
    <p:extLst>
      <p:ext uri="{BB962C8B-B14F-4D97-AF65-F5344CB8AC3E}">
        <p14:creationId xmlns:p14="http://schemas.microsoft.com/office/powerpoint/2010/main" val="16209384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3DCD3-8014-4C78-94D6-F8F7EC4A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74"/>
                </a:solidFill>
                <a:latin typeface="Arial"/>
                <a:ea typeface="Arial"/>
                <a:cs typeface="Arial"/>
              </a:rPr>
              <a:t>GLUCOTWIN  /  RESEARCH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6252E-DE79-41CC-B06D-7F6579DF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825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Problem and healthcare use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06778-330D-4E39-A319-66EC9560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A clinician needs to see how recent glucose changes relate to a patient's historical clinical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E524E-71C5-4487-9B88-BD66753D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GlucoTwin links the profile to visible sensor history and fixed future forecasts.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B824F-C947-4B18-8CE2-1AFB8D4E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The research objective is advance prediction of a new sustained high-glucose episode.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47AA1-3BFC-4BA8-8AF7-C985A62E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3 / 13</a:t>
            </a:r>
          </a:p>
        </p:txBody>
      </p:sp>
    </p:spTree>
    <p:extLst>
      <p:ext uri="{BB962C8B-B14F-4D97-AF65-F5344CB8AC3E}">
        <p14:creationId xmlns:p14="http://schemas.microsoft.com/office/powerpoint/2010/main" val="13418318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DD5B2-D809-415E-92BD-6B5C7484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74"/>
                </a:solidFill>
                <a:latin typeface="Arial"/>
                <a:ea typeface="Arial"/>
                <a:cs typeface="Arial"/>
              </a:rPr>
              <a:t>GLUCOTWIN  /  RESEARCH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D5538-B051-4BB9-877A-FBFCDDEB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825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Linked historical and sensor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2EC60-5D05-4C59-840F-DD9C83E9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CGMacros is the nutrition and diet-monitoring cohort. Historical inputs: age, recorded sex, body mass index (BMI), HbA1c and fasting glucose.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0B1EB-79F9-4590-9E14-984FF11C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Dynamic input: continuous glucose monitoring (CGM) and heart rate (HR), linked to the same patient. RBG refers to the REPLACE-BG study.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45B8F-75C3-453E-8C9C-9CCC6741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Retrospective replay; CGM samples are reconstructed and clinical availability is assumed.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193C9-1858-42C1-9A5F-B55207A5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4 / 13</a:t>
            </a:r>
          </a:p>
        </p:txBody>
      </p:sp>
    </p:spTree>
    <p:extLst>
      <p:ext uri="{BB962C8B-B14F-4D97-AF65-F5344CB8AC3E}">
        <p14:creationId xmlns:p14="http://schemas.microsoft.com/office/powerpoint/2010/main" val="2009166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LUCOTWI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5948E2A8-B896-4C07-A3A6-21DD298C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74"/>
                </a:solidFill>
                <a:latin typeface="Arial"/>
                <a:ea typeface="Arial"/>
                <a:cs typeface="Arial"/>
              </a:rPr>
              <a:t>GLUCOTWIN / RESEARCH PROTOTYPE</a:t>
            </a:r>
          </a:p>
        </p:txBody>
      </p:sp>
      <p:sp>
        <p:nvSpPr>
          <p:cNvPr id="2" name="Clinical and sensor fusion">
            <a:extLst xmlns:a="http://schemas.openxmlformats.org/drawingml/2006/main">
              <a:ext uri="{FF2B5EF4-FFF2-40B4-BE49-F238E27FC236}">
                <a16:creationId xmlns:a16="http://schemas.microsoft.com/office/drawing/2014/main" id="{545D445A-9DA3-49E2-862F-7E5C8C0D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Clinical and sensor fusion</a:t>
            </a:r>
          </a:p>
        </p:txBody>
      </p:sp>
      <p:sp>
        <p:nvSpPr>
          <p:cNvPr id="3" name="CGMacros links both streams by patient ID; historical profile availability is assumed.">
            <a:extLst xmlns:a="http://schemas.openxmlformats.org/drawingml/2006/main">
              <a:ext uri="{FF2B5EF4-FFF2-40B4-BE49-F238E27FC236}">
                <a16:creationId xmlns:a16="http://schemas.microsoft.com/office/drawing/2014/main" id="{DCDA7825-3EA9-4428-A182-5CB96567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CGMacros links both streams by patient ID; historical profile availability is assumed.</a:t>
            </a:r>
          </a:p>
        </p:txBody>
      </p:sp>
      <p:sp>
        <p:nvSpPr>
          <p:cNvPr id="4" name="Historical clinical input container">
            <a:extLst xmlns:a="http://schemas.openxmlformats.org/drawingml/2006/main">
              <a:ext uri="{FF2B5EF4-FFF2-40B4-BE49-F238E27FC236}">
                <a16:creationId xmlns:a16="http://schemas.microsoft.com/office/drawing/2014/main" id="{9863581F-F18F-4392-8F3C-DEEF3111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2141220"/>
            <a:ext cx="2773680" cy="13716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4F0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5" name="Historical clinical input">
            <a:extLst xmlns:a="http://schemas.openxmlformats.org/drawingml/2006/main">
              <a:ext uri="{FF2B5EF4-FFF2-40B4-BE49-F238E27FC236}">
                <a16:creationId xmlns:a16="http://schemas.microsoft.com/office/drawing/2014/main" id="{66172364-06B0-4BF2-BC65-70772D3A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78380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Historical clinical input</a:t>
            </a:r>
          </a:p>
        </p:txBody>
      </p:sp>
      <p:sp>
        <p:nvSpPr>
          <p:cNvPr id="6" name="Age / recorded sex / BMI">
            <a:extLst xmlns:a="http://schemas.openxmlformats.org/drawingml/2006/main">
              <a:ext uri="{FF2B5EF4-FFF2-40B4-BE49-F238E27FC236}">
                <a16:creationId xmlns:a16="http://schemas.microsoft.com/office/drawing/2014/main" id="{C1C47ACA-3651-452C-BBBC-6FD5541C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98420"/>
            <a:ext cx="24688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Age / recorded sex / BMI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HbA1c / fasting glucose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5 historical features</a:t>
            </a:r>
          </a:p>
        </p:txBody>
      </p:sp>
      <p:sp>
        <p:nvSpPr>
          <p:cNvPr id="7" name="Dynamic sensor input container">
            <a:extLst xmlns:a="http://schemas.openxmlformats.org/drawingml/2006/main">
              <a:ext uri="{FF2B5EF4-FFF2-40B4-BE49-F238E27FC236}">
                <a16:creationId xmlns:a16="http://schemas.microsoft.com/office/drawing/2014/main" id="{2D6FD84B-B6D1-4ACC-9533-0BC28DC8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3665220"/>
            <a:ext cx="2773680" cy="13716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8" name="Dynamic sensor input">
            <a:extLst xmlns:a="http://schemas.openxmlformats.org/drawingml/2006/main">
              <a:ext uri="{FF2B5EF4-FFF2-40B4-BE49-F238E27FC236}">
                <a16:creationId xmlns:a16="http://schemas.microsoft.com/office/drawing/2014/main" id="{B0BA5307-0968-46CD-9A36-B178FBDB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02380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Dynamic sensor input</a:t>
            </a:r>
          </a:p>
        </p:txBody>
      </p:sp>
      <p:sp>
        <p:nvSpPr>
          <p:cNvPr id="9" name="CGM history: 22 features">
            <a:extLst xmlns:a="http://schemas.openxmlformats.org/drawingml/2006/main">
              <a:ext uri="{FF2B5EF4-FFF2-40B4-BE49-F238E27FC236}">
                <a16:creationId xmlns:a16="http://schemas.microsoft.com/office/drawing/2014/main" id="{6E6B5BA2-D9AF-469A-BD6B-0C0B819C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122420"/>
            <a:ext cx="24688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CGM history: 22 features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Heart rate: 9 features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Past windows and coverage</a:t>
            </a:r>
          </a:p>
        </p:txBody>
      </p:sp>
      <p:sp>
        <p:nvSpPr>
          <p:cNvPr id="10" name="Shared feature vector container">
            <a:extLst xmlns:a="http://schemas.openxmlformats.org/drawingml/2006/main">
              <a:ext uri="{FF2B5EF4-FFF2-40B4-BE49-F238E27FC236}">
                <a16:creationId xmlns:a16="http://schemas.microsoft.com/office/drawing/2014/main" id="{B9F890A2-E096-4023-B820-13282509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040" y="2887980"/>
            <a:ext cx="3337560" cy="163068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11" name="Shared feature vector">
            <a:extLst xmlns:a="http://schemas.openxmlformats.org/drawingml/2006/main">
              <a:ext uri="{FF2B5EF4-FFF2-40B4-BE49-F238E27FC236}">
                <a16:creationId xmlns:a16="http://schemas.microsoft.com/office/drawing/2014/main" id="{0718D345-9312-4731-8B1F-C8158698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3025140"/>
            <a:ext cx="30327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Shared feature vector</a:t>
            </a:r>
          </a:p>
        </p:txBody>
      </p:sp>
      <p:sp>
        <p:nvSpPr>
          <p:cNvPr id="12" name="Clinical + CGM + heart rate">
            <a:extLst xmlns:a="http://schemas.openxmlformats.org/drawingml/2006/main">
              <a:ext uri="{FF2B5EF4-FFF2-40B4-BE49-F238E27FC236}">
                <a16:creationId xmlns:a16="http://schemas.microsoft.com/office/drawing/2014/main" id="{5F659384-9413-490B-932F-42AEDC4D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3345180"/>
            <a:ext cx="3032760" cy="108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Clinical + CGM + heart rate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Training-fitted imputation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Ridge-only scaling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Missingness represented</a:t>
            </a:r>
          </a:p>
        </p:txBody>
      </p:sp>
      <p:sp>
        <p:nvSpPr>
          <p:cNvPr id="13" name="Ridge numerical model container">
            <a:extLst xmlns:a="http://schemas.openxmlformats.org/drawingml/2006/main">
              <a:ext uri="{FF2B5EF4-FFF2-40B4-BE49-F238E27FC236}">
                <a16:creationId xmlns:a16="http://schemas.microsoft.com/office/drawing/2014/main" id="{60291357-5D8D-44D4-9B9D-DD70F43C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293620"/>
            <a:ext cx="2926080" cy="97536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EBFA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14" name="Ridge numerical model">
            <a:extLst xmlns:a="http://schemas.openxmlformats.org/drawingml/2006/main">
              <a:ext uri="{FF2B5EF4-FFF2-40B4-BE49-F238E27FC236}">
                <a16:creationId xmlns:a16="http://schemas.microsoft.com/office/drawing/2014/main" id="{E7B1ED22-2B0D-4490-9E8B-510F0975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880" y="2430780"/>
            <a:ext cx="26212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Ridge numerical model</a:t>
            </a:r>
          </a:p>
        </p:txBody>
      </p:sp>
      <p:sp>
        <p:nvSpPr>
          <p:cNvPr id="15" name="Glucose at +60 min">
            <a:extLst xmlns:a="http://schemas.openxmlformats.org/drawingml/2006/main">
              <a:ext uri="{FF2B5EF4-FFF2-40B4-BE49-F238E27FC236}">
                <a16:creationId xmlns:a16="http://schemas.microsoft.com/office/drawing/2014/main" id="{B983C828-9BCD-4B3B-934E-76D3A456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880" y="2750820"/>
            <a:ext cx="262128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Glucose at +60 min</a:t>
            </a:r>
          </a:p>
        </p:txBody>
      </p:sp>
      <p:sp>
        <p:nvSpPr>
          <p:cNvPr id="16" name="XGBoost event model container">
            <a:extLst xmlns:a="http://schemas.openxmlformats.org/drawingml/2006/main">
              <a:ext uri="{FF2B5EF4-FFF2-40B4-BE49-F238E27FC236}">
                <a16:creationId xmlns:a16="http://schemas.microsoft.com/office/drawing/2014/main" id="{8E344CDE-7C3E-41CF-AD07-AE9D201D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817620"/>
            <a:ext cx="2926080" cy="11582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2EBFA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17" name="XGBoost event model">
            <a:extLst xmlns:a="http://schemas.openxmlformats.org/drawingml/2006/main">
              <a:ext uri="{FF2B5EF4-FFF2-40B4-BE49-F238E27FC236}">
                <a16:creationId xmlns:a16="http://schemas.microsoft.com/office/drawing/2014/main" id="{FE79F0E7-E958-4DBD-AD16-C4C1159B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880" y="3954780"/>
            <a:ext cx="26212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XGBoost event model</a:t>
            </a:r>
          </a:p>
        </p:txBody>
      </p:sp>
      <p:sp>
        <p:nvSpPr>
          <p:cNvPr id="18" name="New sustained high onset">
            <a:extLst xmlns:a="http://schemas.openxmlformats.org/drawingml/2006/main">
              <a:ext uri="{FF2B5EF4-FFF2-40B4-BE49-F238E27FC236}">
                <a16:creationId xmlns:a16="http://schemas.microsoft.com/office/drawing/2014/main" id="{914A7B49-0CEA-4A65-B770-8AB02FEA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880" y="4274820"/>
            <a:ext cx="262128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New sustained high onset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5-30 minutes ahead</a:t>
            </a:r>
          </a:p>
        </p:txBody>
      </p:sp>
      <p:sp>
        <p:nvSpPr>
          <p:cNvPr id="19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9EB654D6-CF92-4EFE-AB3C-6DA5B56B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3627120" y="2872740"/>
                </a:moveTo>
                <a:lnTo>
                  <a:pt x="3870960" y="2872740"/>
                </a:lnTo>
                <a:lnTo>
                  <a:pt x="3870960" y="3436620"/>
                </a:lnTo>
                <a:lnTo>
                  <a:pt x="4130040" y="34366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20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07A8CA90-CF18-48A4-8E62-4A36ECCE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4061426" y="3469764"/>
                </a:moveTo>
                <a:lnTo>
                  <a:pt x="4130040" y="3436620"/>
                </a:lnTo>
                <a:lnTo>
                  <a:pt x="4061426" y="340347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21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06D7E650-E4B6-49E4-A134-FB5AF43B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3627120" y="4396740"/>
                </a:moveTo>
                <a:lnTo>
                  <a:pt x="3870960" y="4396740"/>
                </a:lnTo>
                <a:lnTo>
                  <a:pt x="3870960" y="4030980"/>
                </a:lnTo>
                <a:lnTo>
                  <a:pt x="4130040" y="403098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22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6BC398F2-2850-492F-9549-D7C10E04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4061426" y="4064124"/>
                </a:moveTo>
                <a:lnTo>
                  <a:pt x="4130040" y="4030980"/>
                </a:lnTo>
                <a:lnTo>
                  <a:pt x="4061426" y="399783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23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EEFDC09D-A82C-41DE-B82D-88361E5F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7467600" y="3436620"/>
                </a:moveTo>
                <a:lnTo>
                  <a:pt x="7955280" y="3436620"/>
                </a:lnTo>
                <a:lnTo>
                  <a:pt x="7955280" y="2781300"/>
                </a:lnTo>
                <a:lnTo>
                  <a:pt x="8412480" y="2781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24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E9628ABF-0823-4392-8450-43CC4822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8343866" y="2814444"/>
                </a:moveTo>
                <a:lnTo>
                  <a:pt x="8412480" y="2781300"/>
                </a:lnTo>
                <a:lnTo>
                  <a:pt x="8343866" y="27481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25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086B80AE-0D36-45CB-BECF-4EDF1E2B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7467600" y="4030980"/>
                </a:moveTo>
                <a:lnTo>
                  <a:pt x="7955280" y="4030980"/>
                </a:lnTo>
                <a:lnTo>
                  <a:pt x="7955280" y="4396740"/>
                </a:lnTo>
                <a:lnTo>
                  <a:pt x="8412480" y="43967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26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DC7C7D96-38D1-4D7F-8094-1FF86E0E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8343866" y="4429884"/>
                </a:moveTo>
                <a:lnTo>
                  <a:pt x="8412480" y="4396740"/>
                </a:lnTo>
                <a:lnTo>
                  <a:pt x="8343866" y="43635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27" name="Fusion is implemented. A useful predictive advantage from clinical inputs has not been established.">
            <a:extLst xmlns:a="http://schemas.openxmlformats.org/drawingml/2006/main">
              <a:ext uri="{FF2B5EF4-FFF2-40B4-BE49-F238E27FC236}">
                <a16:creationId xmlns:a16="http://schemas.microsoft.com/office/drawing/2014/main" id="{48F6ACCE-D308-48DE-B724-1EFA4283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Fusion is implemented. A useful predictive advantage from clinical inputs has not been established.</a:t>
            </a:r>
          </a:p>
        </p:txBody>
      </p:sp>
      <p:sp>
        <p:nvSpPr>
          <p:cNvPr id="28" name="Page marker">
            <a:extLst xmlns:a="http://schemas.openxmlformats.org/drawingml/2006/main">
              <a:ext uri="{FF2B5EF4-FFF2-40B4-BE49-F238E27FC236}">
                <a16:creationId xmlns:a16="http://schemas.microsoft.com/office/drawing/2014/main" id="{21F417D9-D2D3-4AF1-BE69-47EF346E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5 / 13</a:t>
            </a:r>
          </a:p>
        </p:txBody>
      </p:sp>
    </p:spTree>
    <p:extLst>
      <p:ext uri="{BB962C8B-B14F-4D97-AF65-F5344CB8AC3E}">
        <p14:creationId xmlns:p14="http://schemas.microsoft.com/office/powerpoint/2010/main" val="1859609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LUCOTWI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9C6E3CDC-FEC2-4108-A1DE-9D40BC75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74"/>
                </a:solidFill>
                <a:latin typeface="Arial"/>
                <a:ea typeface="Arial"/>
                <a:cs typeface="Arial"/>
              </a:rPr>
              <a:t>GLUCOTWIN / RESEARCH PROTOTYPE</a:t>
            </a:r>
          </a:p>
        </p:txBody>
      </p:sp>
      <p:sp>
        <p:nvSpPr>
          <p:cNvPr id="2" name="System architecture">
            <a:extLst xmlns:a="http://schemas.openxmlformats.org/drawingml/2006/main">
              <a:ext uri="{FF2B5EF4-FFF2-40B4-BE49-F238E27FC236}">
                <a16:creationId xmlns:a16="http://schemas.microsoft.com/office/drawing/2014/main" id="{ADFE27C9-BBFA-4BF7-8C82-85124781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Linked profiles and available sensors enter fitted models through causal features.">
            <a:extLst xmlns:a="http://schemas.openxmlformats.org/drawingml/2006/main">
              <a:ext uri="{FF2B5EF4-FFF2-40B4-BE49-F238E27FC236}">
                <a16:creationId xmlns:a16="http://schemas.microsoft.com/office/drawing/2014/main" id="{C399343D-E04B-4FE3-9CE4-16348E64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Linked profiles and available sensors enter fitted models through causal features.</a:t>
            </a:r>
          </a:p>
        </p:txBody>
      </p:sp>
      <p:sp>
        <p:nvSpPr>
          <p:cNvPr id="4" name="Historical profiles container">
            <a:extLst xmlns:a="http://schemas.openxmlformats.org/drawingml/2006/main">
              <a:ext uri="{FF2B5EF4-FFF2-40B4-BE49-F238E27FC236}">
                <a16:creationId xmlns:a16="http://schemas.microsoft.com/office/drawing/2014/main" id="{8588D0BD-1455-4DC4-8F88-B0204572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2110740"/>
            <a:ext cx="2179320" cy="140208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7F4F0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5" name="Historical profiles">
            <a:extLst xmlns:a="http://schemas.openxmlformats.org/drawingml/2006/main">
              <a:ext uri="{FF2B5EF4-FFF2-40B4-BE49-F238E27FC236}">
                <a16:creationId xmlns:a16="http://schemas.microsoft.com/office/drawing/2014/main" id="{D8B96E30-C65C-4336-AC84-B891C7BA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479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Historical profiles</a:t>
            </a:r>
          </a:p>
        </p:txBody>
      </p:sp>
      <p:sp>
        <p:nvSpPr>
          <p:cNvPr id="6" name="CGMacros: 5 clinical fields">
            <a:extLst xmlns:a="http://schemas.openxmlformats.org/drawingml/2006/main">
              <a:ext uri="{FF2B5EF4-FFF2-40B4-BE49-F238E27FC236}">
                <a16:creationId xmlns:a16="http://schemas.microsoft.com/office/drawing/2014/main" id="{7A5863F2-CF3C-4CF3-9EE5-1B9837C1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67940"/>
            <a:ext cx="1874520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CGMacros: 5 clinical fields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RBG: age / recorded sex</a:t>
            </a:r>
          </a:p>
        </p:txBody>
      </p:sp>
      <p:sp>
        <p:nvSpPr>
          <p:cNvPr id="7" name="Sensor history container">
            <a:extLst xmlns:a="http://schemas.openxmlformats.org/drawingml/2006/main">
              <a:ext uri="{FF2B5EF4-FFF2-40B4-BE49-F238E27FC236}">
                <a16:creationId xmlns:a16="http://schemas.microsoft.com/office/drawing/2014/main" id="{A5D1221E-D2D4-4682-A76B-5DBB81B9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3802380"/>
            <a:ext cx="2179320" cy="105156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8" name="Sensor history">
            <a:extLst xmlns:a="http://schemas.openxmlformats.org/drawingml/2006/main">
              <a:ext uri="{FF2B5EF4-FFF2-40B4-BE49-F238E27FC236}">
                <a16:creationId xmlns:a16="http://schemas.microsoft.com/office/drawing/2014/main" id="{C2D84600-6E86-451F-AC98-EF16751C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3954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Sensor history</a:t>
            </a:r>
          </a:p>
        </p:txBody>
      </p:sp>
      <p:sp>
        <p:nvSpPr>
          <p:cNvPr id="9" name="CGMacros: CGM + HR">
            <a:extLst xmlns:a="http://schemas.openxmlformats.org/drawingml/2006/main">
              <a:ext uri="{FF2B5EF4-FFF2-40B4-BE49-F238E27FC236}">
                <a16:creationId xmlns:a16="http://schemas.microsoft.com/office/drawing/2014/main" id="{00FFDED0-DB7C-4E2F-85B3-5D90F107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9580"/>
            <a:ext cx="18745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CGMacros: CGM + HR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RBG: CGM</a:t>
            </a:r>
          </a:p>
        </p:txBody>
      </p:sp>
      <p:sp>
        <p:nvSpPr>
          <p:cNvPr id="10" name="Causal features container">
            <a:extLst xmlns:a="http://schemas.openxmlformats.org/drawingml/2006/main">
              <a:ext uri="{FF2B5EF4-FFF2-40B4-BE49-F238E27FC236}">
                <a16:creationId xmlns:a16="http://schemas.microsoft.com/office/drawing/2014/main" id="{E2C67816-AFEC-43D1-AF09-068D74DA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960" y="2750820"/>
            <a:ext cx="2011680" cy="163068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11" name="Causal features">
            <a:extLst xmlns:a="http://schemas.openxmlformats.org/drawingml/2006/main">
              <a:ext uri="{FF2B5EF4-FFF2-40B4-BE49-F238E27FC236}">
                <a16:creationId xmlns:a16="http://schemas.microsoft.com/office/drawing/2014/main" id="{9A523DE3-60B4-4AB3-B22F-B0A89C4E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360" y="2887980"/>
            <a:ext cx="1706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Causal features</a:t>
            </a:r>
          </a:p>
        </p:txBody>
      </p:sp>
      <p:sp>
        <p:nvSpPr>
          <p:cNvPr id="12" name="Past-only windows">
            <a:extLst xmlns:a="http://schemas.openxmlformats.org/drawingml/2006/main">
              <a:ext uri="{FF2B5EF4-FFF2-40B4-BE49-F238E27FC236}">
                <a16:creationId xmlns:a16="http://schemas.microsoft.com/office/drawing/2014/main" id="{D4BDFDEE-9BAB-429C-AC0C-7CEF4882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360" y="3208020"/>
            <a:ext cx="1706880" cy="1082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Past-only windows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Coverage / missingness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Training-fitted transforms</a:t>
            </a:r>
          </a:p>
        </p:txBody>
      </p:sp>
      <p:sp>
        <p:nvSpPr>
          <p:cNvPr id="13" name="Saved Ridge container">
            <a:extLst xmlns:a="http://schemas.openxmlformats.org/drawingml/2006/main">
              <a:ext uri="{FF2B5EF4-FFF2-40B4-BE49-F238E27FC236}">
                <a16:creationId xmlns:a16="http://schemas.microsoft.com/office/drawing/2014/main" id="{7626C39B-F7F6-4C2C-B8DF-CC7BDDFF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080" y="2278380"/>
            <a:ext cx="2057400" cy="105156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2EBFA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14" name="Saved Ridge">
            <a:extLst xmlns:a="http://schemas.openxmlformats.org/drawingml/2006/main">
              <a:ext uri="{FF2B5EF4-FFF2-40B4-BE49-F238E27FC236}">
                <a16:creationId xmlns:a16="http://schemas.microsoft.com/office/drawing/2014/main" id="{AFE95ACD-700E-40E4-A8B9-427E672E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1554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Saved Ridge</a:t>
            </a:r>
          </a:p>
        </p:txBody>
      </p:sp>
      <p:sp>
        <p:nvSpPr>
          <p:cNvPr id="15" name="CGMacros +60 min">
            <a:extLst xmlns:a="http://schemas.openxmlformats.org/drawingml/2006/main">
              <a:ext uri="{FF2B5EF4-FFF2-40B4-BE49-F238E27FC236}">
                <a16:creationId xmlns:a16="http://schemas.microsoft.com/office/drawing/2014/main" id="{DC52FA43-6D5D-4C34-B1C8-E12EB12E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735580"/>
            <a:ext cx="1752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CGMacros +60 min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RBG +30 / +60 min</a:t>
            </a:r>
          </a:p>
        </p:txBody>
      </p:sp>
      <p:sp>
        <p:nvSpPr>
          <p:cNvPr id="16" name="Saved XGBoost container">
            <a:extLst xmlns:a="http://schemas.openxmlformats.org/drawingml/2006/main">
              <a:ext uri="{FF2B5EF4-FFF2-40B4-BE49-F238E27FC236}">
                <a16:creationId xmlns:a16="http://schemas.microsoft.com/office/drawing/2014/main" id="{EA4FD4C8-E317-47AC-8274-288AEA3C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080" y="3802380"/>
            <a:ext cx="2057400" cy="105156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2EBFA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17" name="Saved XGBoost">
            <a:extLst xmlns:a="http://schemas.openxmlformats.org/drawingml/2006/main">
              <a:ext uri="{FF2B5EF4-FFF2-40B4-BE49-F238E27FC236}">
                <a16:creationId xmlns:a16="http://schemas.microsoft.com/office/drawing/2014/main" id="{23CDFE3A-E3B4-477F-8DE8-CF45D7CE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93954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Saved XGBoost</a:t>
            </a:r>
          </a:p>
        </p:txBody>
      </p:sp>
      <p:sp>
        <p:nvSpPr>
          <p:cNvPr id="18" name="CGMacros high onset">
            <a:extLst xmlns:a="http://schemas.openxmlformats.org/drawingml/2006/main">
              <a:ext uri="{FF2B5EF4-FFF2-40B4-BE49-F238E27FC236}">
                <a16:creationId xmlns:a16="http://schemas.microsoft.com/office/drawing/2014/main" id="{3F64DB59-70F6-4EEA-B6F8-563592CC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59580"/>
            <a:ext cx="1752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CGMacros high onset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5-30 min ahead</a:t>
            </a:r>
          </a:p>
        </p:txBody>
      </p:sp>
      <p:sp>
        <p:nvSpPr>
          <p:cNvPr id="19" name="Local Python API container">
            <a:extLst xmlns:a="http://schemas.openxmlformats.org/drawingml/2006/main">
              <a:ext uri="{FF2B5EF4-FFF2-40B4-BE49-F238E27FC236}">
                <a16:creationId xmlns:a16="http://schemas.microsoft.com/office/drawing/2014/main" id="{E8B90C13-0056-40CC-987A-C37AAE0B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78380"/>
            <a:ext cx="2804160" cy="14478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20" name="Local Python API">
            <a:extLst xmlns:a="http://schemas.openxmlformats.org/drawingml/2006/main">
              <a:ext uri="{FF2B5EF4-FFF2-40B4-BE49-F238E27FC236}">
                <a16:creationId xmlns:a16="http://schemas.microsoft.com/office/drawing/2014/main" id="{8C383413-3BB4-47C1-8073-39A674DD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15540"/>
            <a:ext cx="2499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Local Python API</a:t>
            </a:r>
          </a:p>
        </p:txBody>
      </p:sp>
      <p:sp>
        <p:nvSpPr>
          <p:cNvPr id="21" name="Trusted artifact checks">
            <a:extLst xmlns:a="http://schemas.openxmlformats.org/drawingml/2006/main">
              <a:ext uri="{FF2B5EF4-FFF2-40B4-BE49-F238E27FC236}">
                <a16:creationId xmlns:a16="http://schemas.microsoft.com/office/drawing/2014/main" id="{06013E58-9416-4A4E-91AD-0109B0F2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35580"/>
            <a:ext cx="2499360" cy="89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Trusted artifact checks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Isolated replay session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Fixed forecast ledgers</a:t>
            </a:r>
          </a:p>
        </p:txBody>
      </p:sp>
      <p:sp>
        <p:nvSpPr>
          <p:cNvPr id="22" name="Browser workspace container">
            <a:extLst xmlns:a="http://schemas.openxmlformats.org/drawingml/2006/main">
              <a:ext uri="{FF2B5EF4-FFF2-40B4-BE49-F238E27FC236}">
                <a16:creationId xmlns:a16="http://schemas.microsoft.com/office/drawing/2014/main" id="{F29188A4-7163-46E4-A02A-7EB2866F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07180"/>
            <a:ext cx="2804160" cy="109728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23" name="Browser workspace">
            <a:extLst xmlns:a="http://schemas.openxmlformats.org/drawingml/2006/main">
              <a:ext uri="{FF2B5EF4-FFF2-40B4-BE49-F238E27FC236}">
                <a16:creationId xmlns:a16="http://schemas.microsoft.com/office/drawing/2014/main" id="{8F012680-BC93-45EA-B2D9-3DB5E397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44340"/>
            <a:ext cx="2499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Browser workspace</a:t>
            </a:r>
          </a:p>
        </p:txBody>
      </p:sp>
      <p:sp>
        <p:nvSpPr>
          <p:cNvPr id="24" name="Profile / timeline / history">
            <a:extLst xmlns:a="http://schemas.openxmlformats.org/drawingml/2006/main">
              <a:ext uri="{FF2B5EF4-FFF2-40B4-BE49-F238E27FC236}">
                <a16:creationId xmlns:a16="http://schemas.microsoft.com/office/drawing/2014/main" id="{29B3CA96-42A5-43B1-8416-7355F1AE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64380"/>
            <a:ext cx="2499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Profile / timeline / history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Notes / review reports</a:t>
            </a:r>
          </a:p>
        </p:txBody>
      </p:sp>
      <p:sp>
        <p:nvSpPr>
          <p:cNvPr id="25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A50E0C37-78D9-4A81-B257-673E5E2C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3032760" y="2857500"/>
                </a:moveTo>
                <a:lnTo>
                  <a:pt x="3261360" y="2857500"/>
                </a:lnTo>
                <a:lnTo>
                  <a:pt x="3261360" y="3238500"/>
                </a:lnTo>
                <a:lnTo>
                  <a:pt x="3489960" y="3238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26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052323F8-12F9-4E83-B178-441B2BF1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3421346" y="3271644"/>
                </a:moveTo>
                <a:lnTo>
                  <a:pt x="3489960" y="3238500"/>
                </a:lnTo>
                <a:lnTo>
                  <a:pt x="3421346" y="32053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27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4DC17AB9-E615-41E7-AD23-208EFF23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3032760" y="4335780"/>
                </a:moveTo>
                <a:lnTo>
                  <a:pt x="3261360" y="4335780"/>
                </a:lnTo>
                <a:lnTo>
                  <a:pt x="3261360" y="3863340"/>
                </a:lnTo>
                <a:lnTo>
                  <a:pt x="3489960" y="38633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28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8A6D65D4-075B-42A9-8BD9-FBE3B5E7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3421346" y="3896484"/>
                </a:moveTo>
                <a:lnTo>
                  <a:pt x="3489960" y="3863340"/>
                </a:lnTo>
                <a:lnTo>
                  <a:pt x="3421346" y="38301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29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9EEB3CCB-ABD6-46BF-A9A2-5CF8049B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5501640" y="3238500"/>
                </a:moveTo>
                <a:lnTo>
                  <a:pt x="5745480" y="3238500"/>
                </a:lnTo>
                <a:lnTo>
                  <a:pt x="5745480" y="2804160"/>
                </a:lnTo>
                <a:lnTo>
                  <a:pt x="5974080" y="280416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30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BEEF4BE4-CCDF-4B7B-9CD2-77C18312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5905466" y="2837304"/>
                </a:moveTo>
                <a:lnTo>
                  <a:pt x="5974080" y="2804160"/>
                </a:lnTo>
                <a:lnTo>
                  <a:pt x="5905466" y="27710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31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DB6749B2-A33B-4860-87F8-2F54C275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5501640" y="3863340"/>
                </a:moveTo>
                <a:lnTo>
                  <a:pt x="5745480" y="3863340"/>
                </a:lnTo>
                <a:lnTo>
                  <a:pt x="5745480" y="4328160"/>
                </a:lnTo>
                <a:lnTo>
                  <a:pt x="5974080" y="432816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32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D1198034-41FD-46DC-B4BC-90C058AA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5905466" y="4361304"/>
                </a:moveTo>
                <a:lnTo>
                  <a:pt x="5974080" y="4328160"/>
                </a:lnTo>
                <a:lnTo>
                  <a:pt x="5905466" y="42950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33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40C74973-2011-4920-8A00-3C076C87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8031480" y="2804160"/>
                </a:moveTo>
                <a:lnTo>
                  <a:pt x="8275320" y="2804160"/>
                </a:lnTo>
                <a:lnTo>
                  <a:pt x="8275320" y="2987040"/>
                </a:lnTo>
                <a:lnTo>
                  <a:pt x="8534400" y="29870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34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5D5F1737-EAA6-4895-A090-5337ED2A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8465786" y="3020184"/>
                </a:moveTo>
                <a:lnTo>
                  <a:pt x="8534400" y="2987040"/>
                </a:lnTo>
                <a:lnTo>
                  <a:pt x="8465786" y="29538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35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0D7AA5E5-76F6-41B5-B13F-51720334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8031480" y="4328160"/>
                </a:moveTo>
                <a:lnTo>
                  <a:pt x="8275320" y="4328160"/>
                </a:lnTo>
                <a:lnTo>
                  <a:pt x="8275320" y="3444240"/>
                </a:lnTo>
                <a:lnTo>
                  <a:pt x="8534400" y="34442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36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440F990D-2E20-4130-B58C-327F4B3B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8465786" y="3477384"/>
                </a:moveTo>
                <a:lnTo>
                  <a:pt x="8534400" y="3444240"/>
                </a:lnTo>
                <a:lnTo>
                  <a:pt x="8465786" y="34110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37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3767E71D-DB37-4F3F-A62D-7C12BBC5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9936480" y="3726180"/>
                </a:moveTo>
                <a:lnTo>
                  <a:pt x="9936480" y="410718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38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5DED1FAF-7203-4552-8BE3-09430A0B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9903336" y="4038566"/>
                </a:moveTo>
                <a:lnTo>
                  <a:pt x="9936480" y="4107180"/>
                </a:lnTo>
                <a:lnTo>
                  <a:pt x="9969624" y="403856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39" name="Source records and models stay local. Public code, protocols and aggregate results are shared.">
            <a:extLst xmlns:a="http://schemas.openxmlformats.org/drawingml/2006/main">
              <a:ext uri="{FF2B5EF4-FFF2-40B4-BE49-F238E27FC236}">
                <a16:creationId xmlns:a16="http://schemas.microsoft.com/office/drawing/2014/main" id="{2D224CC5-6556-40C3-B75C-9F55D372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Source records and models stay local. Public code, protocols and aggregate results are shared.</a:t>
            </a:r>
          </a:p>
        </p:txBody>
      </p:sp>
      <p:sp>
        <p:nvSpPr>
          <p:cNvPr id="40" name="Page marker">
            <a:extLst xmlns:a="http://schemas.openxmlformats.org/drawingml/2006/main">
              <a:ext uri="{FF2B5EF4-FFF2-40B4-BE49-F238E27FC236}">
                <a16:creationId xmlns:a16="http://schemas.microsoft.com/office/drawing/2014/main" id="{22D52B3E-44F2-44B3-B67A-8158C650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6 / 13</a:t>
            </a:r>
          </a:p>
        </p:txBody>
      </p:sp>
    </p:spTree>
    <p:extLst>
      <p:ext uri="{BB962C8B-B14F-4D97-AF65-F5344CB8AC3E}">
        <p14:creationId xmlns:p14="http://schemas.microsoft.com/office/powerpoint/2010/main" val="356029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LUCOTWI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9986F3B8-9A40-45E0-A158-88F34772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74"/>
                </a:solidFill>
                <a:latin typeface="Arial"/>
                <a:ea typeface="Arial"/>
                <a:cs typeface="Arial"/>
              </a:rPr>
              <a:t>GLUCOTWIN / RESEARCH PROTOTYPE</a:t>
            </a:r>
          </a:p>
        </p:txBody>
      </p:sp>
      <p:sp>
        <p:nvSpPr>
          <p:cNvPr id="2" name="Forecast timing and outcome reveal">
            <a:extLst xmlns:a="http://schemas.openxmlformats.org/drawingml/2006/main">
              <a:ext uri="{FF2B5EF4-FFF2-40B4-BE49-F238E27FC236}">
                <a16:creationId xmlns:a16="http://schemas.microsoft.com/office/drawing/2014/main" id="{11862B1E-0B37-498D-A219-850A8822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Forecast timing and outcome reveal</a:t>
            </a:r>
          </a:p>
        </p:txBody>
      </p:sp>
      <p:sp>
        <p:nvSpPr>
          <p:cNvPr id="3" name="Inputs are past-only; predictions stay fixed and future target readings remain hidden.">
            <a:extLst xmlns:a="http://schemas.openxmlformats.org/drawingml/2006/main">
              <a:ext uri="{FF2B5EF4-FFF2-40B4-BE49-F238E27FC236}">
                <a16:creationId xmlns:a16="http://schemas.microsoft.com/office/drawing/2014/main" id="{F16CA5C6-3316-4B49-B975-C7CAB503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Inputs are past-only; predictions stay fixed and future target readings remain hidden.</a:t>
            </a:r>
          </a:p>
        </p:txBody>
      </p:sp>
      <p:sp>
        <p:nvSpPr>
          <p:cNvPr id="4" name="Available history container">
            <a:extLst xmlns:a="http://schemas.openxmlformats.org/drawingml/2006/main">
              <a:ext uri="{FF2B5EF4-FFF2-40B4-BE49-F238E27FC236}">
                <a16:creationId xmlns:a16="http://schemas.microsoft.com/office/drawing/2014/main" id="{75060439-319C-4A76-84A5-2571728D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2354580"/>
            <a:ext cx="1645920" cy="156972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5" name="Available history">
            <a:extLst xmlns:a="http://schemas.openxmlformats.org/drawingml/2006/main">
              <a:ext uri="{FF2B5EF4-FFF2-40B4-BE49-F238E27FC236}">
                <a16:creationId xmlns:a16="http://schemas.microsoft.com/office/drawing/2014/main" id="{ED2A3AA8-302C-47CC-986D-C4A8323D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91740"/>
            <a:ext cx="134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Available history</a:t>
            </a:r>
          </a:p>
        </p:txBody>
      </p:sp>
      <p:sp>
        <p:nvSpPr>
          <p:cNvPr id="6" name="Visible by issue">
            <a:extLst xmlns:a="http://schemas.openxmlformats.org/drawingml/2006/main">
              <a:ext uri="{FF2B5EF4-FFF2-40B4-BE49-F238E27FC236}">
                <a16:creationId xmlns:a16="http://schemas.microsoft.com/office/drawing/2014/main" id="{0D09EB05-8F5C-4DC7-A512-1360296E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040380"/>
            <a:ext cx="134112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Visible by issue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time t</a:t>
            </a:r>
          </a:p>
        </p:txBody>
      </p:sp>
      <p:sp>
        <p:nvSpPr>
          <p:cNvPr id="7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2BE4CB21-53E0-481E-8476-E40D6900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2499360" y="3139440"/>
                </a:moveTo>
                <a:lnTo>
                  <a:pt x="2621280" y="31394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8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10705AA9-7CC6-4C99-BA3A-C2BD138C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2552666" y="3172584"/>
                </a:moveTo>
                <a:lnTo>
                  <a:pt x="2621280" y="3139440"/>
                </a:lnTo>
                <a:lnTo>
                  <a:pt x="2552666" y="31062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9" name="Past-only features container">
            <a:extLst xmlns:a="http://schemas.openxmlformats.org/drawingml/2006/main">
              <a:ext uri="{FF2B5EF4-FFF2-40B4-BE49-F238E27FC236}">
                <a16:creationId xmlns:a16="http://schemas.microsoft.com/office/drawing/2014/main" id="{3A8263CC-F996-4108-9361-9B37CBDC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2354580"/>
            <a:ext cx="1645920" cy="156972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10" name="Past-only features">
            <a:extLst xmlns:a="http://schemas.openxmlformats.org/drawingml/2006/main">
              <a:ext uri="{FF2B5EF4-FFF2-40B4-BE49-F238E27FC236}">
                <a16:creationId xmlns:a16="http://schemas.microsoft.com/office/drawing/2014/main" id="{280AAD00-C1A1-4EF2-BF14-8928EB37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680" y="2491740"/>
            <a:ext cx="134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Past-only features</a:t>
            </a:r>
          </a:p>
        </p:txBody>
      </p:sp>
      <p:sp>
        <p:nvSpPr>
          <p:cNvPr id="11" name="Recent windows">
            <a:extLst xmlns:a="http://schemas.openxmlformats.org/drawingml/2006/main">
              <a:ext uri="{FF2B5EF4-FFF2-40B4-BE49-F238E27FC236}">
                <a16:creationId xmlns:a16="http://schemas.microsoft.com/office/drawing/2014/main" id="{53875824-0B09-4AB7-8F19-718D806B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680" y="3040380"/>
            <a:ext cx="134112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Recent windows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and coverage</a:t>
            </a:r>
          </a:p>
        </p:txBody>
      </p:sp>
      <p:sp>
        <p:nvSpPr>
          <p:cNvPr id="12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9279D75E-AFBB-4313-B68C-E209AA92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4267200" y="3139440"/>
                </a:moveTo>
                <a:lnTo>
                  <a:pt x="4389120" y="31394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13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F7FB1DDA-C94B-456C-920D-465A9FDE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4320506" y="3172584"/>
                </a:moveTo>
                <a:lnTo>
                  <a:pt x="4389120" y="3139440"/>
                </a:lnTo>
                <a:lnTo>
                  <a:pt x="4320506" y="31062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14" name="Quality check container">
            <a:extLst xmlns:a="http://schemas.openxmlformats.org/drawingml/2006/main">
              <a:ext uri="{FF2B5EF4-FFF2-40B4-BE49-F238E27FC236}">
                <a16:creationId xmlns:a16="http://schemas.microsoft.com/office/drawing/2014/main" id="{306BE902-32DA-463F-9253-DD44120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354580"/>
            <a:ext cx="1645920" cy="156972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15" name="Quality check">
            <a:extLst xmlns:a="http://schemas.openxmlformats.org/drawingml/2006/main">
              <a:ext uri="{FF2B5EF4-FFF2-40B4-BE49-F238E27FC236}">
                <a16:creationId xmlns:a16="http://schemas.microsoft.com/office/drawing/2014/main" id="{5783F24E-E5CF-4FF9-984F-E1B7E10B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2491740"/>
            <a:ext cx="134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Quality check</a:t>
            </a:r>
          </a:p>
        </p:txBody>
      </p:sp>
      <p:sp>
        <p:nvSpPr>
          <p:cNvPr id="16" name="Withhold if inputs">
            <a:extLst xmlns:a="http://schemas.openxmlformats.org/drawingml/2006/main">
              <a:ext uri="{FF2B5EF4-FFF2-40B4-BE49-F238E27FC236}">
                <a16:creationId xmlns:a16="http://schemas.microsoft.com/office/drawing/2014/main" id="{9F132AB9-2C4C-4A2D-A800-DA83CF43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2811780"/>
            <a:ext cx="1341120" cy="102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Withhold if inputs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are insufficient</a:t>
            </a:r>
          </a:p>
        </p:txBody>
      </p:sp>
      <p:sp>
        <p:nvSpPr>
          <p:cNvPr id="17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26C39797-12F6-43A2-BD50-F5B3CA65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6035040" y="3139440"/>
                </a:moveTo>
                <a:lnTo>
                  <a:pt x="6156960" y="31394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18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3118E75D-4DD8-459A-9864-85465885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6088346" y="3172584"/>
                </a:moveTo>
                <a:lnTo>
                  <a:pt x="6156960" y="3139440"/>
                </a:lnTo>
                <a:lnTo>
                  <a:pt x="6088346" y="31062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19" name="Save forecast container">
            <a:extLst xmlns:a="http://schemas.openxmlformats.org/drawingml/2006/main">
              <a:ext uri="{FF2B5EF4-FFF2-40B4-BE49-F238E27FC236}">
                <a16:creationId xmlns:a16="http://schemas.microsoft.com/office/drawing/2014/main" id="{EC8376C9-BC0A-423F-B83A-89D1A5B9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2354580"/>
            <a:ext cx="1645920" cy="156972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2EBFA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20" name="Save forecast">
            <a:extLst xmlns:a="http://schemas.openxmlformats.org/drawingml/2006/main">
              <a:ext uri="{FF2B5EF4-FFF2-40B4-BE49-F238E27FC236}">
                <a16:creationId xmlns:a16="http://schemas.microsoft.com/office/drawing/2014/main" id="{2FE0B9AF-892C-4D4C-B79E-BD84BE12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491740"/>
            <a:ext cx="134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Save forecast</a:t>
            </a:r>
          </a:p>
        </p:txBody>
      </p:sp>
      <p:sp>
        <p:nvSpPr>
          <p:cNvPr id="21" name="Target = t + horizon">
            <a:extLst xmlns:a="http://schemas.openxmlformats.org/drawingml/2006/main">
              <a:ext uri="{FF2B5EF4-FFF2-40B4-BE49-F238E27FC236}">
                <a16:creationId xmlns:a16="http://schemas.microsoft.com/office/drawing/2014/main" id="{25DC32BF-5528-47D5-9210-25917F8F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811780"/>
            <a:ext cx="1341120" cy="102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Target = t + horizon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Prediction fixed</a:t>
            </a:r>
          </a:p>
        </p:txBody>
      </p:sp>
      <p:sp>
        <p:nvSpPr>
          <p:cNvPr id="22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2047110F-C6F7-4C90-8588-8256CB77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7802880" y="3139440"/>
                </a:moveTo>
                <a:lnTo>
                  <a:pt x="7924800" y="31394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23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3074E794-D0FB-4786-B213-B32E1E4D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7856186" y="3172584"/>
                </a:moveTo>
                <a:lnTo>
                  <a:pt x="7924800" y="3139440"/>
                </a:lnTo>
                <a:lnTo>
                  <a:pt x="7856186" y="31062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24" name="Wait until due container">
            <a:extLst xmlns:a="http://schemas.openxmlformats.org/drawingml/2006/main">
              <a:ext uri="{FF2B5EF4-FFF2-40B4-BE49-F238E27FC236}">
                <a16:creationId xmlns:a16="http://schemas.microsoft.com/office/drawing/2014/main" id="{3AFEBFD0-614D-43BB-8811-9283E7B4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54580"/>
            <a:ext cx="1645920" cy="156972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4E4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25" name="Wait until due">
            <a:extLst xmlns:a="http://schemas.openxmlformats.org/drawingml/2006/main">
              <a:ext uri="{FF2B5EF4-FFF2-40B4-BE49-F238E27FC236}">
                <a16:creationId xmlns:a16="http://schemas.microsoft.com/office/drawing/2014/main" id="{F6FF23C4-30F2-498D-90DD-C8B6D313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91740"/>
            <a:ext cx="134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Wait until due</a:t>
            </a:r>
          </a:p>
        </p:txBody>
      </p:sp>
      <p:sp>
        <p:nvSpPr>
          <p:cNvPr id="26" name="Pending until target">
            <a:extLst xmlns:a="http://schemas.openxmlformats.org/drawingml/2006/main">
              <a:ext uri="{FF2B5EF4-FFF2-40B4-BE49-F238E27FC236}">
                <a16:creationId xmlns:a16="http://schemas.microsoft.com/office/drawing/2014/main" id="{2BBEC6D8-AE10-4A78-9DC6-5F9606EC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11780"/>
            <a:ext cx="1341120" cy="102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Pending until target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is available</a:t>
            </a:r>
          </a:p>
        </p:txBody>
      </p:sp>
      <p:sp>
        <p:nvSpPr>
          <p:cNvPr id="27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C0DDD5FF-54C8-4E27-A166-7D4EFCAC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9570720" y="3139440"/>
                </a:moveTo>
                <a:lnTo>
                  <a:pt x="9692640" y="31394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28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7EDD05C1-936E-4C8A-9A29-6BEBD946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9624026" y="3172584"/>
                </a:moveTo>
                <a:lnTo>
                  <a:pt x="9692640" y="3139440"/>
                </a:lnTo>
                <a:lnTo>
                  <a:pt x="9624026" y="31062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29" name="Reveal outcome container">
            <a:extLst xmlns:a="http://schemas.openxmlformats.org/drawingml/2006/main">
              <a:ext uri="{FF2B5EF4-FFF2-40B4-BE49-F238E27FC236}">
                <a16:creationId xmlns:a16="http://schemas.microsoft.com/office/drawing/2014/main" id="{EF50F21E-5D80-4AF6-AB3C-CF0CCCF6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354580"/>
            <a:ext cx="1645920" cy="156972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30" name="Reveal outcome">
            <a:extLst xmlns:a="http://schemas.openxmlformats.org/drawingml/2006/main">
              <a:ext uri="{FF2B5EF4-FFF2-40B4-BE49-F238E27FC236}">
                <a16:creationId xmlns:a16="http://schemas.microsoft.com/office/drawing/2014/main" id="{73A55E55-9C3B-47BB-880E-D2663C66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2491740"/>
            <a:ext cx="134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Reveal outcome</a:t>
            </a:r>
          </a:p>
        </p:txBody>
      </p:sp>
      <p:sp>
        <p:nvSpPr>
          <p:cNvPr id="31" name="Compare measured">
            <a:extLst xmlns:a="http://schemas.openxmlformats.org/drawingml/2006/main">
              <a:ext uri="{FF2B5EF4-FFF2-40B4-BE49-F238E27FC236}">
                <a16:creationId xmlns:a16="http://schemas.microsoft.com/office/drawing/2014/main" id="{66BBEC62-4099-4DE1-B8F0-2A59C7C0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3040380"/>
            <a:ext cx="134112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Compare measured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target and forecast</a:t>
            </a:r>
          </a:p>
        </p:txBody>
      </p:sp>
      <p:sp>
        <p:nvSpPr>
          <p:cNvPr id="32" name="Availability rules">
            <a:extLst xmlns:a="http://schemas.openxmlformats.org/drawingml/2006/main">
              <a:ext uri="{FF2B5EF4-FFF2-40B4-BE49-F238E27FC236}">
                <a16:creationId xmlns:a16="http://schemas.microsoft.com/office/drawing/2014/main" id="{9D0C932F-4FE8-4EDF-B23B-5DD771F0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424434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67C74"/>
                </a:solidFill>
                <a:latin typeface="Arial"/>
                <a:ea typeface="Arial"/>
                <a:cs typeface="Arial"/>
              </a:rPr>
              <a:t>Availability rules</a:t>
            </a:r>
          </a:p>
        </p:txBody>
      </p:sp>
      <p:sp>
        <p:nvSpPr>
          <p:cNvPr id="33" name="CGMacros: input cutoff t; target revealed at t + horizon">
            <a:extLst xmlns:a="http://schemas.openxmlformats.org/drawingml/2006/main">
              <a:ext uri="{FF2B5EF4-FFF2-40B4-BE49-F238E27FC236}">
                <a16:creationId xmlns:a16="http://schemas.microsoft.com/office/drawing/2014/main" id="{6D2671CB-8C06-452A-AFE7-7108C45F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4663440"/>
            <a:ext cx="104851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44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CGMacros: input cutoff t; target revealed at t + horizon</a:t>
            </a:r>
          </a:p>
          <a:p xmlns:a="http://schemas.openxmlformats.org/drawingml/2006/main">
            <a:pPr>
              <a:buNone/>
              <a:defRPr sz="144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44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RBG: input cutoff t - 5 min; target revealed at t + horizon + 5 min</a:t>
            </a:r>
          </a:p>
        </p:txBody>
      </p:sp>
      <p:sp>
        <p:nvSpPr>
          <p:cNvPr id="34" name="Withheld forecasts are not evaluated. Missing targets stay missing. Event research has a separate +45-minute outcome rule.">
            <a:extLst xmlns:a="http://schemas.openxmlformats.org/drawingml/2006/main">
              <a:ext uri="{FF2B5EF4-FFF2-40B4-BE49-F238E27FC236}">
                <a16:creationId xmlns:a16="http://schemas.microsoft.com/office/drawing/2014/main" id="{44540290-FBD8-4748-B4DF-177D63D6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Withheld forecasts are not evaluated. Missing targets stay missing. Event research has a separate +45-minute outcome rule.</a:t>
            </a:r>
          </a:p>
        </p:txBody>
      </p:sp>
      <p:sp>
        <p:nvSpPr>
          <p:cNvPr id="35" name="Page marker">
            <a:extLst xmlns:a="http://schemas.openxmlformats.org/drawingml/2006/main">
              <a:ext uri="{FF2B5EF4-FFF2-40B4-BE49-F238E27FC236}">
                <a16:creationId xmlns:a16="http://schemas.microsoft.com/office/drawing/2014/main" id="{D5A5A18C-FBFE-49B4-ADE3-2BEE642D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7 / 13</a:t>
            </a:r>
          </a:p>
        </p:txBody>
      </p:sp>
    </p:spTree>
    <p:extLst>
      <p:ext uri="{BB962C8B-B14F-4D97-AF65-F5344CB8AC3E}">
        <p14:creationId xmlns:p14="http://schemas.microsoft.com/office/powerpoint/2010/main" val="20420912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LUCOTWI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68CE3278-C71F-4FF6-BAAF-8FDA01E3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74"/>
                </a:solidFill>
                <a:latin typeface="Arial"/>
                <a:ea typeface="Arial"/>
                <a:cs typeface="Arial"/>
              </a:rPr>
              <a:t>GLUCOTWIN / RESEARCH PROTOTYPE</a:t>
            </a:r>
          </a:p>
        </p:txBody>
      </p:sp>
      <p:sp>
        <p:nvSpPr>
          <p:cNvPr id="2" name="Clinician review workflow">
            <a:extLst xmlns:a="http://schemas.openxmlformats.org/drawingml/2006/main">
              <a:ext uri="{FF2B5EF4-FFF2-40B4-BE49-F238E27FC236}">
                <a16:creationId xmlns:a16="http://schemas.microsoft.com/office/drawing/2014/main" id="{25F2009F-79D2-4882-8AFF-0F676E54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Clinician review workflow</a:t>
            </a:r>
          </a:p>
        </p:txBody>
      </p:sp>
      <p:sp>
        <p:nvSpPr>
          <p:cNvPr id="3" name="Inspect available evidence, record questions and retain user-entered follow-up tasks.">
            <a:extLst xmlns:a="http://schemas.openxmlformats.org/drawingml/2006/main">
              <a:ext uri="{FF2B5EF4-FFF2-40B4-BE49-F238E27FC236}">
                <a16:creationId xmlns:a16="http://schemas.microsoft.com/office/drawing/2014/main" id="{EE9B8B66-43FC-4410-931A-C6A11C47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Inspect available evidence, record questions and retain user-entered follow-up tasks.</a:t>
            </a:r>
          </a:p>
        </p:txBody>
      </p:sp>
      <p:sp>
        <p:nvSpPr>
          <p:cNvPr id="4" name="Select patient container">
            <a:extLst xmlns:a="http://schemas.openxmlformats.org/drawingml/2006/main">
              <a:ext uri="{FF2B5EF4-FFF2-40B4-BE49-F238E27FC236}">
                <a16:creationId xmlns:a16="http://schemas.microsoft.com/office/drawing/2014/main" id="{D5825455-3884-4422-9398-8E074E2D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2537460"/>
            <a:ext cx="1950720" cy="156972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5" name="Select patient">
            <a:extLst xmlns:a="http://schemas.openxmlformats.org/drawingml/2006/main">
              <a:ext uri="{FF2B5EF4-FFF2-40B4-BE49-F238E27FC236}">
                <a16:creationId xmlns:a16="http://schemas.microsoft.com/office/drawing/2014/main" id="{18C821A6-B150-4131-83BB-C6F73266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746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Select patient</a:t>
            </a:r>
          </a:p>
        </p:txBody>
      </p:sp>
      <p:sp>
        <p:nvSpPr>
          <p:cNvPr id="6" name="Fictional demo, CSV">
            <a:extLst xmlns:a="http://schemas.openxmlformats.org/drawingml/2006/main">
              <a:ext uri="{FF2B5EF4-FFF2-40B4-BE49-F238E27FC236}">
                <a16:creationId xmlns:a16="http://schemas.microsoft.com/office/drawing/2014/main" id="{30280024-37BD-49FC-AABE-D8E1ED50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94660"/>
            <a:ext cx="1645920" cy="102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Fictional demo, CSV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or research cohort</a:t>
            </a:r>
          </a:p>
        </p:txBody>
      </p:sp>
      <p:sp>
        <p:nvSpPr>
          <p:cNvPr id="7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1ADD703B-7AD7-43E5-92A9-72F22D23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2804160" y="3337560"/>
                </a:moveTo>
                <a:lnTo>
                  <a:pt x="2987040" y="333756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8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0D13E29A-A684-4013-980A-DEB3F4F1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2918426" y="3370704"/>
                </a:moveTo>
                <a:lnTo>
                  <a:pt x="2987040" y="3337560"/>
                </a:lnTo>
                <a:lnTo>
                  <a:pt x="2918426" y="33044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9" name="Review history container">
            <a:extLst xmlns:a="http://schemas.openxmlformats.org/drawingml/2006/main">
              <a:ext uri="{FF2B5EF4-FFF2-40B4-BE49-F238E27FC236}">
                <a16:creationId xmlns:a16="http://schemas.microsoft.com/office/drawing/2014/main" id="{D8B39574-8899-4B1D-9302-B83534C7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2537460"/>
            <a:ext cx="1950720" cy="156972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10" name="Review history">
            <a:extLst xmlns:a="http://schemas.openxmlformats.org/drawingml/2006/main">
              <a:ext uri="{FF2B5EF4-FFF2-40B4-BE49-F238E27FC236}">
                <a16:creationId xmlns:a16="http://schemas.microsoft.com/office/drawing/2014/main" id="{41A58C75-89C5-4225-80C4-C76F91A0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440" y="26746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Review history</a:t>
            </a:r>
          </a:p>
        </p:txBody>
      </p:sp>
      <p:sp>
        <p:nvSpPr>
          <p:cNvPr id="11" name="Profile and coverage">
            <a:extLst xmlns:a="http://schemas.openxmlformats.org/drawingml/2006/main">
              <a:ext uri="{FF2B5EF4-FFF2-40B4-BE49-F238E27FC236}">
                <a16:creationId xmlns:a16="http://schemas.microsoft.com/office/drawing/2014/main" id="{99336A66-F31F-4521-B68C-769450D0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440" y="2994660"/>
            <a:ext cx="1645920" cy="102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Profile and coverage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Daily / hourly patterns</a:t>
            </a:r>
          </a:p>
        </p:txBody>
      </p:sp>
      <p:sp>
        <p:nvSpPr>
          <p:cNvPr id="12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2CF5D50D-8B8B-4CC7-B17D-1B1A2F75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4937760" y="3337560"/>
                </a:moveTo>
                <a:lnTo>
                  <a:pt x="5120640" y="333756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13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A1720B44-FAE0-405A-A764-4083C4EE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5052026" y="3370704"/>
                </a:moveTo>
                <a:lnTo>
                  <a:pt x="5120640" y="3337560"/>
                </a:lnTo>
                <a:lnTo>
                  <a:pt x="5052026" y="33044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14" name="Inspect forecasts container">
            <a:extLst xmlns:a="http://schemas.openxmlformats.org/drawingml/2006/main">
              <a:ext uri="{FF2B5EF4-FFF2-40B4-BE49-F238E27FC236}">
                <a16:creationId xmlns:a16="http://schemas.microsoft.com/office/drawing/2014/main" id="{E9DD5CC7-E59E-4769-A127-E8D050F9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537460"/>
            <a:ext cx="1950720" cy="156972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15" name="Inspect forecasts">
            <a:extLst xmlns:a="http://schemas.openxmlformats.org/drawingml/2006/main">
              <a:ext uri="{FF2B5EF4-FFF2-40B4-BE49-F238E27FC236}">
                <a16:creationId xmlns:a16="http://schemas.microsoft.com/office/drawing/2014/main" id="{C31E8C61-F44E-44BC-8337-FC77ACAB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6746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Inspect forecasts</a:t>
            </a:r>
          </a:p>
        </p:txBody>
      </p:sp>
      <p:sp>
        <p:nvSpPr>
          <p:cNvPr id="16" name="Fixed ledgers">
            <a:extLst xmlns:a="http://schemas.openxmlformats.org/drawingml/2006/main">
              <a:ext uri="{FF2B5EF4-FFF2-40B4-BE49-F238E27FC236}">
                <a16:creationId xmlns:a16="http://schemas.microsoft.com/office/drawing/2014/main" id="{F1100C55-ADA4-41B9-B56D-8AD56998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994660"/>
            <a:ext cx="1645920" cy="102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Fixed ledgers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Baseline / explanations</a:t>
            </a:r>
          </a:p>
        </p:txBody>
      </p:sp>
      <p:sp>
        <p:nvSpPr>
          <p:cNvPr id="17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40C8CCE0-811A-473F-8757-82606A87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7071360" y="3337560"/>
                </a:moveTo>
                <a:lnTo>
                  <a:pt x="7254240" y="333756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18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6E71463E-31BB-484D-9F17-46DACD41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7185626" y="3370704"/>
                </a:moveTo>
                <a:lnTo>
                  <a:pt x="7254240" y="3337560"/>
                </a:lnTo>
                <a:lnTo>
                  <a:pt x="7185626" y="33044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19" name="Record review container">
            <a:extLst xmlns:a="http://schemas.openxmlformats.org/drawingml/2006/main">
              <a:ext uri="{FF2B5EF4-FFF2-40B4-BE49-F238E27FC236}">
                <a16:creationId xmlns:a16="http://schemas.microsoft.com/office/drawing/2014/main" id="{08F1B19A-1F69-4B72-A724-DD3D073E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2537460"/>
            <a:ext cx="1950720" cy="156972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20" name="Record review">
            <a:extLst xmlns:a="http://schemas.openxmlformats.org/drawingml/2006/main">
              <a:ext uri="{FF2B5EF4-FFF2-40B4-BE49-F238E27FC236}">
                <a16:creationId xmlns:a16="http://schemas.microsoft.com/office/drawing/2014/main" id="{3290C4C9-2CA0-4BE5-A07F-A812C975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6746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Record review</a:t>
            </a:r>
          </a:p>
        </p:txBody>
      </p:sp>
      <p:sp>
        <p:nvSpPr>
          <p:cNvPr id="21" name="Questions and notes">
            <a:extLst xmlns:a="http://schemas.openxmlformats.org/drawingml/2006/main">
              <a:ext uri="{FF2B5EF4-FFF2-40B4-BE49-F238E27FC236}">
                <a16:creationId xmlns:a16="http://schemas.microsoft.com/office/drawing/2014/main" id="{3D4B3106-118A-4460-8C84-65E3D469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994660"/>
            <a:ext cx="1645920" cy="102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Questions and notes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Prescribed reminders</a:t>
            </a:r>
          </a:p>
        </p:txBody>
      </p:sp>
      <p:sp>
        <p:nvSpPr>
          <p:cNvPr id="22" name="Directed data flow">
            <a:extLst xmlns:a="http://schemas.openxmlformats.org/drawingml/2006/main">
              <a:ext uri="{FF2B5EF4-FFF2-40B4-BE49-F238E27FC236}">
                <a16:creationId xmlns:a16="http://schemas.microsoft.com/office/drawing/2014/main" id="{542374D3-8FE2-4848-B12C-5ADE72D3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9204960" y="3337560"/>
                </a:moveTo>
                <a:lnTo>
                  <a:pt x="9387840" y="333756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23" name="Flow arrow head">
            <a:extLst xmlns:a="http://schemas.openxmlformats.org/drawingml/2006/main">
              <a:ext uri="{FF2B5EF4-FFF2-40B4-BE49-F238E27FC236}">
                <a16:creationId xmlns:a16="http://schemas.microsoft.com/office/drawing/2014/main" id="{BEF307C3-0242-4976-A806-0C4C77BB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9319226" y="3370704"/>
                </a:moveTo>
                <a:lnTo>
                  <a:pt x="9387840" y="3337560"/>
                </a:lnTo>
                <a:lnTo>
                  <a:pt x="9319226" y="33044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C74"/>
            </a:solidFill>
            <a:prstDash val="solid"/>
          </a:ln>
        </p:spPr>
      </p:sp>
      <p:sp>
        <p:nvSpPr>
          <p:cNvPr id="24" name="Preview and export container">
            <a:extLst xmlns:a="http://schemas.openxmlformats.org/drawingml/2006/main">
              <a:ext uri="{FF2B5EF4-FFF2-40B4-BE49-F238E27FC236}">
                <a16:creationId xmlns:a16="http://schemas.microsoft.com/office/drawing/2014/main" id="{9C49624E-2C0B-45EC-BBA2-626373E1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2537460"/>
            <a:ext cx="1950720" cy="156972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7F4F0"/>
          </a:solidFill>
          <a:ln xmlns:a="http://schemas.openxmlformats.org/drawingml/2006/main" w="7620">
            <a:solidFill>
              <a:srgbClr val="B9CFD8"/>
            </a:solidFill>
            <a:prstDash val="solid"/>
          </a:ln>
        </p:spPr>
      </p:sp>
      <p:sp>
        <p:nvSpPr>
          <p:cNvPr id="25" name="Preview and export">
            <a:extLst xmlns:a="http://schemas.openxmlformats.org/drawingml/2006/main">
              <a:ext uri="{FF2B5EF4-FFF2-40B4-BE49-F238E27FC236}">
                <a16:creationId xmlns:a16="http://schemas.microsoft.com/office/drawing/2014/main" id="{0C6D0410-4BE8-457B-9B03-A253D986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240" y="267462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Preview and export</a:t>
            </a:r>
          </a:p>
        </p:txBody>
      </p:sp>
      <p:sp>
        <p:nvSpPr>
          <p:cNvPr id="26" name="Charted HTML report">
            <a:extLst xmlns:a="http://schemas.openxmlformats.org/drawingml/2006/main">
              <a:ext uri="{FF2B5EF4-FFF2-40B4-BE49-F238E27FC236}">
                <a16:creationId xmlns:a16="http://schemas.microsoft.com/office/drawing/2014/main" id="{7C7F7A2D-47F2-451B-8EDB-D5CD196A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240" y="3223260"/>
            <a:ext cx="164592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Charted HTML report</a:t>
            </a:r>
          </a:p>
          <a:p xmlns:a="http://schemas.openxmlformats.org/drawingml/2006/main">
            <a:pPr>
              <a:buNone/>
              <a:defRPr sz="132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2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CSV / JSON summaries</a:t>
            </a:r>
          </a:p>
        </p:txBody>
      </p:sp>
      <p:sp>
        <p:nvSpPr>
          <p:cNvPr id="27" name="Available in the current build">
            <a:extLst xmlns:a="http://schemas.openxmlformats.org/drawingml/2006/main">
              <a:ext uri="{FF2B5EF4-FFF2-40B4-BE49-F238E27FC236}">
                <a16:creationId xmlns:a16="http://schemas.microsoft.com/office/drawing/2014/main" id="{F145BBE4-3821-4690-84F1-B23495E8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4427220"/>
            <a:ext cx="1048512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67C74"/>
                </a:solidFill>
                <a:latin typeface="Arial"/>
                <a:ea typeface="Arial"/>
                <a:cs typeface="Arial"/>
              </a:rPr>
              <a:t>Available in the current build</a:t>
            </a:r>
          </a:p>
        </p:txBody>
      </p:sp>
      <p:sp>
        <p:nvSpPr>
          <p:cNvPr id="28" name="Synthetic worked example / Local CSV import / Sensor gap inspection">
            <a:extLst xmlns:a="http://schemas.openxmlformats.org/drawingml/2006/main">
              <a:ext uri="{FF2B5EF4-FFF2-40B4-BE49-F238E27FC236}">
                <a16:creationId xmlns:a16="http://schemas.microsoft.com/office/drawing/2014/main" id="{38AB5DC6-EB6D-49DD-AC2F-8543E9A9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4800600"/>
            <a:ext cx="104851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4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44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Synthetic worked example / Local CSV import / Sensor gap inspection</a:t>
            </a:r>
          </a:p>
          <a:p xmlns:a="http://schemas.openxmlformats.org/drawingml/2006/main">
            <a:pPr>
              <a:buNone/>
              <a:defRPr sz="144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44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Observed day comparisons / User-entered plans / Printable review reports</a:t>
            </a:r>
          </a:p>
        </p:txBody>
      </p:sp>
      <p:sp>
        <p:nvSpPr>
          <p:cNvPr id="29" name="Notes do not enter inference. The three-day plan is user-entered; medication times and doses are not predicted.">
            <a:extLst xmlns:a="http://schemas.openxmlformats.org/drawingml/2006/main">
              <a:ext uri="{FF2B5EF4-FFF2-40B4-BE49-F238E27FC236}">
                <a16:creationId xmlns:a16="http://schemas.microsoft.com/office/drawing/2014/main" id="{27E3BFF7-A0DB-481C-85F6-17E5A488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Notes do not enter inference. The three-day plan is user-entered; medication times and doses are not predicted.</a:t>
            </a:r>
          </a:p>
        </p:txBody>
      </p:sp>
      <p:sp>
        <p:nvSpPr>
          <p:cNvPr id="30" name="Page marker">
            <a:extLst xmlns:a="http://schemas.openxmlformats.org/drawingml/2006/main">
              <a:ext uri="{FF2B5EF4-FFF2-40B4-BE49-F238E27FC236}">
                <a16:creationId xmlns:a16="http://schemas.microsoft.com/office/drawing/2014/main" id="{C252D542-D281-4401-A563-88D121E1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8 / 13</a:t>
            </a:r>
          </a:p>
        </p:txBody>
      </p:sp>
    </p:spTree>
    <p:extLst>
      <p:ext uri="{BB962C8B-B14F-4D97-AF65-F5344CB8AC3E}">
        <p14:creationId xmlns:p14="http://schemas.microsoft.com/office/powerpoint/2010/main" val="15635664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D9EDE-5BCD-4618-B7C5-9D39E0A8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74"/>
                </a:solidFill>
                <a:latin typeface="Arial"/>
                <a:ea typeface="Arial"/>
                <a:cs typeface="Arial"/>
              </a:rPr>
              <a:t>GLUCOTWIN  /  RESEARCH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92298-3C3A-452D-8E93-D598ADAC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825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Advance-event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81BAD-36B7-4822-A8AC-2AF13DD4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New sustained high onset: 4 consecutive five-minute readings above 180 mg/dL, after 7 readings at or below 180.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2AA75-8BB6-4025-993C-94C823E6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Prediction window: onset 5-30 minutes ahead. Features contain only past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B68C4-E47C-48DD-B345-5EF6BFAA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27 development patients; 3 outer folds separate fitting, cutoff setting and evaluation. Six reserved patients remain unscored.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56598-DB80-4EE7-9AD6-C90E911F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9 / 13</a:t>
            </a:r>
          </a:p>
        </p:txBody>
      </p:sp>
    </p:spTree>
    <p:extLst>
      <p:ext uri="{BB962C8B-B14F-4D97-AF65-F5344CB8AC3E}">
        <p14:creationId xmlns:p14="http://schemas.microsoft.com/office/powerpoint/2010/main" val="19252373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D93BC-CE7B-40E5-97B3-24AF99F7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74"/>
                </a:solidFill>
                <a:latin typeface="Arial"/>
                <a:ea typeface="Arial"/>
                <a:cs typeface="Arial"/>
              </a:rPr>
              <a:t>GLUCOTWIN  /  RESEARCH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E5F80-F787-40C1-AEA7-F8C72EBE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825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Measured event prediction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09AA1-D759-4F46-BDBA-93D6C33C8386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6000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67C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Fused XGBoost v2</a:t>
                      </a:r>
                    </a:p>
                  </a:txBody>
                  <a:tcPr marL="91440" marR="91440" marT="45720" marB="45720">
                    <a:solidFill>
                      <a:srgbClr val="167C7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4"/>
                          </a:solidFill>
                          <a:latin typeface="Arial"/>
                          <a:ea typeface="Arial"/>
                          <a:cs typeface="Arial"/>
                        </a:rPr>
                        <a:t>Episodes detected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4"/>
                          </a:solidFill>
                          <a:latin typeface="Arial"/>
                          <a:ea typeface="Arial"/>
                          <a:cs typeface="Arial"/>
                        </a:rPr>
                        <a:t>229 / 336 (68.2%)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4"/>
                          </a:solidFill>
                          <a:latin typeface="Arial"/>
                          <a:ea typeface="Arial"/>
                          <a:cs typeface="Arial"/>
                        </a:rPr>
                        <a:t>Conservative precision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4"/>
                          </a:solidFill>
                          <a:latin typeface="Arial"/>
                          <a:ea typeface="Arial"/>
                          <a:cs typeface="Arial"/>
                        </a:rPr>
                        <a:t>52.8%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4"/>
                          </a:solidFill>
                          <a:latin typeface="Arial"/>
                          <a:ea typeface="Arial"/>
                          <a:cs typeface="Arial"/>
                        </a:rPr>
                        <a:t>False alarms / eligible day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4"/>
                          </a:solidFill>
                          <a:latin typeface="Arial"/>
                          <a:ea typeface="Arial"/>
                          <a:cs typeface="Arial"/>
                        </a:rPr>
                        <a:t>0.98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4"/>
                          </a:solidFill>
                          <a:latin typeface="Arial"/>
                          <a:ea typeface="Arial"/>
                          <a:cs typeface="Arial"/>
                        </a:rPr>
                        <a:t>Median detected-event lead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4"/>
                          </a:solidFill>
                          <a:latin typeface="Arial"/>
                          <a:ea typeface="Arial"/>
                          <a:cs typeface="Arial"/>
                        </a:rPr>
                        <a:t>10 minutes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A9F4F-E44D-4E07-8B39-642938AA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Development results. Cutoff-setting folds were not consistently successful; patient intervals cross gate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3D22D-99D1-428F-AAD3-6F62FE24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4077250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230D3-1E36-4023-833D-06BEA26B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74"/>
                </a:solidFill>
                <a:latin typeface="Arial"/>
                <a:ea typeface="Arial"/>
                <a:cs typeface="Arial"/>
              </a:rPr>
              <a:t>GLUCOTWIN  /  RESEARCH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22A4B-E047-4263-8108-1A55399A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825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Numerical forecast results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EA5AF-BF4B-4F99-995A-DE3C0775E96B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000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Cohort / horizon</a:t>
                      </a:r>
                    </a:p>
                  </a:txBody>
                  <a:tcPr marL="91440" marR="91440" marT="45720" marB="45720">
                    <a:solidFill>
                      <a:srgbClr val="167C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Ridge MAE</a:t>
                      </a:r>
                    </a:p>
                  </a:txBody>
                  <a:tcPr marL="91440" marR="91440" marT="45720" marB="45720">
                    <a:solidFill>
                      <a:srgbClr val="167C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Persistence MAE</a:t>
                      </a:r>
                    </a:p>
                  </a:txBody>
                  <a:tcPr marL="91440" marR="91440" marT="45720" marB="45720">
                    <a:solidFill>
                      <a:srgbClr val="167C7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4"/>
                          </a:solidFill>
                          <a:latin typeface="Arial"/>
                          <a:ea typeface="Arial"/>
                          <a:cs typeface="Arial"/>
                        </a:rPr>
                        <a:t>CGMacros / 60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4"/>
                          </a:solidFill>
                          <a:latin typeface="Arial"/>
                          <a:ea typeface="Arial"/>
                          <a:cs typeface="Arial"/>
                        </a:rPr>
                        <a:t>19.00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4"/>
                          </a:solidFill>
                          <a:latin typeface="Arial"/>
                          <a:ea typeface="Arial"/>
                          <a:cs typeface="Arial"/>
                        </a:rPr>
                        <a:t>19.99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4"/>
                          </a:solidFill>
                          <a:latin typeface="Arial"/>
                          <a:ea typeface="Arial"/>
                          <a:cs typeface="Arial"/>
                        </a:rPr>
                        <a:t>RBG / 30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4"/>
                          </a:solidFill>
                          <a:latin typeface="Arial"/>
                          <a:ea typeface="Arial"/>
                          <a:cs typeface="Arial"/>
                        </a:rPr>
                        <a:t>17.59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4"/>
                          </a:solidFill>
                          <a:latin typeface="Arial"/>
                          <a:ea typeface="Arial"/>
                          <a:cs typeface="Arial"/>
                        </a:rPr>
                        <a:t>20.71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4"/>
                          </a:solidFill>
                          <a:latin typeface="Arial"/>
                          <a:ea typeface="Arial"/>
                          <a:cs typeface="Arial"/>
                        </a:rPr>
                        <a:t>RBG / 60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4"/>
                          </a:solidFill>
                          <a:latin typeface="Arial"/>
                          <a:ea typeface="Arial"/>
                          <a:cs typeface="Arial"/>
                        </a:rPr>
                        <a:t>28.89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4"/>
                          </a:solidFill>
                          <a:latin typeface="Arial"/>
                          <a:ea typeface="Arial"/>
                          <a:cs typeface="Arial"/>
                        </a:rPr>
                        <a:t>32.53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96634-3151-4931-832B-09AD1B82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Units: mg/dL. Separate development cohorts and timing protocols. RBG profile-fused values match the original CGM-only benchmark after rounding.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6210B-D445-4433-9CDD-177F8DD0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5913560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8C7CF-5A3F-446E-8CE0-57488802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74"/>
                </a:solidFill>
                <a:latin typeface="Arial"/>
                <a:ea typeface="Arial"/>
                <a:cs typeface="Arial"/>
              </a:rPr>
              <a:t>GLUCOTWIN  /  RESEARCH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A37A7-2B73-4209-8797-7EAEEFE9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825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Current model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FEC93-A862-4612-AF32-551A8C4C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Only 36.6% of evaluable high episodes received at least ten minutes warning. Cutoff-setting folds did not consistently pass.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AA578-36AC-40B4-A1CB-4733EDE9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Low-glucose numerical errors remain a weakness. Overall MAE is not a clinical safety guarantee.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B7C8F-57F4-4E79-834F-35806DF4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CGMacros samples are reconstructed; historical profile availability is assumed. A useful clinical-fusion advantage is not established.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67F88-F15C-4F92-AF7F-6A7E7814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No clinical validation or reserved-test performance. Risk percentages, operational alerts and treatment advice remain disabled.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A8DDA-4B1C-4436-8EB9-3B4828C1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3101376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1D363-8A87-43A5-869A-9407F4D2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167C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74"/>
                </a:solidFill>
                <a:latin typeface="Arial"/>
                <a:ea typeface="Arial"/>
                <a:cs typeface="Arial"/>
              </a:rPr>
              <a:t>GLUCOTWIN  /  RESEARCH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22B51-719A-4C70-AAC4-BC19A395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825" b="1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83344"/>
                </a:solidFill>
                <a:latin typeface="Arial"/>
                <a:ea typeface="Arial"/>
                <a:cs typeface="Arial"/>
              </a:rPr>
              <a:t>Setup and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87F4A-8EC4-47E5-907E-520864E9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Python + scikit-learn + XGBoost; HTML/CSS/JavaScript browser. Measured studies ran on local CPU.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73E9E-F88D-4740-B70E-F04F3731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Synthetic demo runs without data or model downloads. Research cohorts require locally prepared, trusted artifacts; raw records and models stay local.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E399E-9B05-4FC8-8DBD-187FE428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One-click Windows launcher; unified Python and JavaScript checks. CSV import, care notes, history inspection and charted review reports are included.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AE45E-9E08-472C-BC6A-AE3AF270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344"/>
                </a:solidFill>
                <a:latin typeface="Arial"/>
                <a:ea typeface="Arial"/>
                <a:cs typeface="Arial"/>
              </a:rPr>
              <a:t>Original code: MIT License. Dataset terms remain separate. Video preparation is deferred.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BB849-C101-4640-8100-760B203A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2011990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2026-10-13T11:04:39.7300000Z</dcterms:created>
  <dcterms:modified xsi:type="dcterms:W3CDTF">2026-10-13T11:04:39.7300000Z</dcterms:modified>
</coreProperties>
</file>