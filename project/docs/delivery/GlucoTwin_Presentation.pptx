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e9b916c14f4064" /><Relationship Type="http://schemas.openxmlformats.org/officeDocument/2006/relationships/extended-properties" Target="/docProps/app.xml" Id="R0ae491095c824b5e" /><Relationship Type="http://schemas.openxmlformats.org/officeDocument/2006/relationships/officeDocument" Target="/ppt/presentation.xml" Id="Ra99df13169864a3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1a94f3d9a147d1"/>
  </p:sldMasterIdLst>
  <p:notesMasterIdLst>
    <p:notesMasterId xmlns:r="http://schemas.openxmlformats.org/officeDocument/2006/relationships" r:id="Rb6741e80803f4e92"/>
  </p:notesMasterIdLst>
  <p:sldIdLst>
    <p:sldId xmlns:r="http://schemas.openxmlformats.org/officeDocument/2006/relationships" id="256" r:id="Rf8db58e780aa4058"/>
    <p:sldId xmlns:r="http://schemas.openxmlformats.org/officeDocument/2006/relationships" id="257" r:id="R5ab04a1ecbfb49d0"/>
    <p:sldId xmlns:r="http://schemas.openxmlformats.org/officeDocument/2006/relationships" id="258" r:id="R449d938595454589"/>
    <p:sldId xmlns:r="http://schemas.openxmlformats.org/officeDocument/2006/relationships" id="259" r:id="Rb01b29ff8dbb4194"/>
    <p:sldId xmlns:r="http://schemas.openxmlformats.org/officeDocument/2006/relationships" id="260" r:id="R16e7ee52a92c438c"/>
    <p:sldId xmlns:r="http://schemas.openxmlformats.org/officeDocument/2006/relationships" id="261" r:id="Rd7a88aaffacb40d8"/>
    <p:sldId xmlns:r="http://schemas.openxmlformats.org/officeDocument/2006/relationships" id="262" r:id="R6d1b0011a1fb461d"/>
    <p:sldId xmlns:r="http://schemas.openxmlformats.org/officeDocument/2006/relationships" id="263" r:id="R7148efa59ef74a70"/>
    <p:sldId xmlns:r="http://schemas.openxmlformats.org/officeDocument/2006/relationships" id="264" r:id="Rd8b411e3d08643f2"/>
    <p:sldId xmlns:r="http://schemas.openxmlformats.org/officeDocument/2006/relationships" id="265" r:id="R1689897fc3f643a5"/>
    <p:sldId xmlns:r="http://schemas.openxmlformats.org/officeDocument/2006/relationships" id="266" r:id="R0ef4377fcad84599"/>
    <p:sldId xmlns:r="http://schemas.openxmlformats.org/officeDocument/2006/relationships" id="267" r:id="R437dc135ac384bf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fc3f3b088e34f8a" /><Relationship Type="http://schemas.openxmlformats.org/officeDocument/2006/relationships/slideMaster" Target="/ppt/slideMasters/slideMaster1.xml" Id="R771a94f3d9a147d1" /><Relationship Type="http://schemas.openxmlformats.org/officeDocument/2006/relationships/notesMaster" Target="/ppt/notesMasters/notesMaster1.xml" Id="Rb6741e80803f4e92" /><Relationship Type="http://schemas.openxmlformats.org/officeDocument/2006/relationships/presProps" Target="/ppt/presProps.xml" Id="R7c9dbb9139584702" /><Relationship Type="http://schemas.openxmlformats.org/officeDocument/2006/relationships/tableStyles" Target="/ppt/tableStyles.xml" Id="Ra72f778e758d4e68" /><Relationship Type="http://schemas.openxmlformats.org/officeDocument/2006/relationships/slide" Target="/ppt/slides/slide1.xml" Id="Rf8db58e780aa4058" /><Relationship Type="http://schemas.openxmlformats.org/officeDocument/2006/relationships/slide" Target="/ppt/slides/slide2.xml" Id="R5ab04a1ecbfb49d0" /><Relationship Type="http://schemas.openxmlformats.org/officeDocument/2006/relationships/slide" Target="/ppt/slides/slide3.xml" Id="R449d938595454589" /><Relationship Type="http://schemas.openxmlformats.org/officeDocument/2006/relationships/slide" Target="/ppt/slides/slide4.xml" Id="Rb01b29ff8dbb4194" /><Relationship Type="http://schemas.openxmlformats.org/officeDocument/2006/relationships/slide" Target="/ppt/slides/slide5.xml" Id="R16e7ee52a92c438c" /><Relationship Type="http://schemas.openxmlformats.org/officeDocument/2006/relationships/slide" Target="/ppt/slides/slide6.xml" Id="Rd7a88aaffacb40d8" /><Relationship Type="http://schemas.openxmlformats.org/officeDocument/2006/relationships/slide" Target="/ppt/slides/slide7.xml" Id="R6d1b0011a1fb461d" /><Relationship Type="http://schemas.openxmlformats.org/officeDocument/2006/relationships/slide" Target="/ppt/slides/slide8.xml" Id="R7148efa59ef74a70" /><Relationship Type="http://schemas.openxmlformats.org/officeDocument/2006/relationships/slide" Target="/ppt/slides/slide9.xml" Id="Rd8b411e3d08643f2" /><Relationship Type="http://schemas.openxmlformats.org/officeDocument/2006/relationships/slide" Target="/ppt/slides/slide10.xml" Id="R1689897fc3f643a5" /><Relationship Type="http://schemas.openxmlformats.org/officeDocument/2006/relationships/slide" Target="/ppt/slides/slide11.xml" Id="R0ef4377fcad84599" /><Relationship Type="http://schemas.openxmlformats.org/officeDocument/2006/relationships/slide" Target="/ppt/slides/slide12.xml" Id="R437dc135ac384b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f3d0062de0f42c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6f047fe33f430d" /><Relationship Type="http://schemas.openxmlformats.org/officeDocument/2006/relationships/notesMaster" Target="/ppt/notesMasters/notesMaster1.xml" Id="R051e1909126749a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1da6acb301949f1" /><Relationship Type="http://schemas.openxmlformats.org/officeDocument/2006/relationships/notesMaster" Target="/ppt/notesMasters/notesMaster1.xml" Id="Rba4a7a0e7ba44e6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dedbd5b88694bd4" /><Relationship Type="http://schemas.openxmlformats.org/officeDocument/2006/relationships/notesMaster" Target="/ppt/notesMasters/notesMaster1.xml" Id="R082cd0ffb6b04af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4602d6ef757488f" /><Relationship Type="http://schemas.openxmlformats.org/officeDocument/2006/relationships/notesMaster" Target="/ppt/notesMasters/notesMaster1.xml" Id="R2b676f665dbe4f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0b1234ff7be4801" /><Relationship Type="http://schemas.openxmlformats.org/officeDocument/2006/relationships/notesMaster" Target="/ppt/notesMasters/notesMaster1.xml" Id="R9ab186f3f5ac4e5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2d5d995b0da4d7f" /><Relationship Type="http://schemas.openxmlformats.org/officeDocument/2006/relationships/notesMaster" Target="/ppt/notesMasters/notesMaster1.xml" Id="R52a0285b046b4f5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0d7adc35c10430e" /><Relationship Type="http://schemas.openxmlformats.org/officeDocument/2006/relationships/notesMaster" Target="/ppt/notesMasters/notesMaster1.xml" Id="Rf73f8bd90355480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990366b811a4755" /><Relationship Type="http://schemas.openxmlformats.org/officeDocument/2006/relationships/notesMaster" Target="/ppt/notesMasters/notesMaster1.xml" Id="R91eb83654f8e4f75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56849c7c0a647f3" /><Relationship Type="http://schemas.openxmlformats.org/officeDocument/2006/relationships/notesMaster" Target="/ppt/notesMasters/notesMaster1.xml" Id="R6a39773e09144d5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3401e80b2804bff" /><Relationship Type="http://schemas.openxmlformats.org/officeDocument/2006/relationships/notesMaster" Target="/ppt/notesMasters/notesMaster1.xml" Id="R5044da7e1f4b40e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ac487c45dd384526" /><Relationship Type="http://schemas.openxmlformats.org/officeDocument/2006/relationships/notesMaster" Target="/ppt/notesMasters/notesMaster1.xml" Id="R701e915a4e18416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1356fe6a17c42db" /><Relationship Type="http://schemas.openxmlformats.org/officeDocument/2006/relationships/notesMaster" Target="/ppt/notesMasters/notesMaster1.xml" Id="Rbbeece212ba74ea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project/README.md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User-confirmed registered team and college details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project/README.md; project/docs/FUSION.md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project/DATA_CONTRACT.md; project/docs/FUSION.md; https://physionet.org/content/cgmacros/1.0.0/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project/docs/FUSION.md; project/configs/event_study_gpu_v2.json; project/scripts/run_event_study.py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project/scripts/serve_dashboard.py; project/src/glucotwin/event_replay.py; project/docs/EVENT_REPLAY.md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project/web/app.js; project/docs/API.md; project/docs/EVENT_REPLAY.md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project/src/glucotwin/episodes.py; project/src/glucotwin/event_study.py; project/reports/EVENT_STUDY_GPU_V2.md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project/reports/EVENT_STUDY_GPU_V2.md; project/docs/EVENT_RESEARCH_PROGRESS.md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project/docs/DCLP3_STUDY_V2.md; project/reports/dclp3_study_v2_checks.json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project/docs/INDEPENDENT_REVIEW_ACTIONS.md; project/docs/SCORE_IMPROVEMENT.md; project/docs/DCLP3_STUDY_V2.md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project/docs/REPRODUCTION.md; project/docs/DELIVERY_READINESS.md; project/README.md; project/LICENSE</a:t>
            </a:r>
          </a:p>
          <a:p xmlns:a="http://schemas.openxmlformats.org/drawingml/2006/main">
            <a:r>
              <a:t>Current-state research evidence; keep cohorts and tasks separate. Video work is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698d6214ae49f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103bc585d16426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71685bc8cc42fa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d6624766b4474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ff59eef88f42b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d725a34d354d6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94B5E1E-5BA1-4B07-BABA-948CF74B6AE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0ACCAEF-2ABB-45CE-8BC2-EB806DD97E4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BB0B90D-BD20-42AE-9B14-56024D1770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9442140-6247-422C-9D3A-30066F4CD57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10D32CA-3C57-4DB2-9FDF-D355104E53E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1AE20BB-FDDB-495C-B249-603DBED52F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80CD30C-241C-494A-8DE6-7959B4D8EAC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4C672CB2-6F11-4107-B550-0E39DF42F4F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45B4D9-32DA-4832-98BE-4D064459C2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262E8E3-AD76-4387-B2E3-2EC8E72C680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10a50dee30b4bdf" /><Relationship Type="http://schemas.openxmlformats.org/officeDocument/2006/relationships/slideLayout" Target="/ppt/slideLayouts/slideLayout1.xml" Id="Rf611798b37fc4679" /><Relationship Type="http://schemas.openxmlformats.org/officeDocument/2006/relationships/slideLayout" Target="/ppt/slideLayouts/slideLayout2.xml" Id="R912b912e0a274d67" /><Relationship Type="http://schemas.openxmlformats.org/officeDocument/2006/relationships/slideLayout" Target="/ppt/slideLayouts/slideLayout3.xml" Id="R04829bc541064050" /><Relationship Type="http://schemas.openxmlformats.org/officeDocument/2006/relationships/slideLayout" Target="/ppt/slideLayouts/slideLayout4.xml" Id="R531b05f9625b4350" /><Relationship Type="http://schemas.openxmlformats.org/officeDocument/2006/relationships/slideLayout" Target="/ppt/slideLayouts/slideLayout5.xml" Id="Rac1ea43dc0514c0c" /><Relationship Type="http://schemas.openxmlformats.org/officeDocument/2006/relationships/slideLayout" Target="/ppt/slideLayouts/slideLayout6.xml" Id="R108050422814433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11798b37fc4679"/>
    <p:sldLayoutId xmlns:r="http://schemas.openxmlformats.org/officeDocument/2006/relationships" id="2147483650" r:id="R912b912e0a274d67"/>
    <p:sldLayoutId xmlns:r="http://schemas.openxmlformats.org/officeDocument/2006/relationships" id="2147483651" r:id="R04829bc541064050"/>
    <p:sldLayoutId xmlns:r="http://schemas.openxmlformats.org/officeDocument/2006/relationships" id="2147483652" r:id="R531b05f9625b4350"/>
    <p:sldLayoutId xmlns:r="http://schemas.openxmlformats.org/officeDocument/2006/relationships" id="2147483653" r:id="Rac1ea43dc0514c0c"/>
    <p:sldLayoutId xmlns:r="http://schemas.openxmlformats.org/officeDocument/2006/relationships" id="2147483654" r:id="R108050422814433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999e2931ae44c5" /><Relationship Type="http://schemas.openxmlformats.org/officeDocument/2006/relationships/notesSlide" Target="/ppt/notesSlides/notesSlide1.xml" Id="Re371c2f182ac493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d9dd81224e408b" /><Relationship Type="http://schemas.openxmlformats.org/officeDocument/2006/relationships/notesSlide" Target="/ppt/notesSlides/notesSlide2.xml" Id="R5fff49c1f7904a0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c836dc78e434b67" /><Relationship Type="http://schemas.openxmlformats.org/officeDocument/2006/relationships/notesSlide" Target="/ppt/notesSlides/notesSlide3.xml" Id="Rb17511d4fd3643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7348d5154d4f31" /><Relationship Type="http://schemas.openxmlformats.org/officeDocument/2006/relationships/notesSlide" Target="/ppt/notesSlides/notesSlide4.xml" Id="Rb86ea2f341c04ea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0caff6f791423e" /><Relationship Type="http://schemas.openxmlformats.org/officeDocument/2006/relationships/notesSlide" Target="/ppt/notesSlides/notesSlide5.xml" Id="R06b6009d8d82472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4c8309125b44112" /><Relationship Type="http://schemas.openxmlformats.org/officeDocument/2006/relationships/notesSlide" Target="/ppt/notesSlides/notesSlide6.xml" Id="R341cf4741bda4f1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8d5165c7659491a" /><Relationship Type="http://schemas.openxmlformats.org/officeDocument/2006/relationships/notesSlide" Target="/ppt/notesSlides/notesSlide7.xml" Id="R4dfcbd60e37b40d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a296db9a044f6f" /><Relationship Type="http://schemas.openxmlformats.org/officeDocument/2006/relationships/notesSlide" Target="/ppt/notesSlides/notesSlide8.xml" Id="R9a1947337a5c408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9bc039c72345d0" /><Relationship Type="http://schemas.openxmlformats.org/officeDocument/2006/relationships/notesSlide" Target="/ppt/notesSlides/notesSlide9.xml" Id="R14d8c3e989ad4ae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414f3ac5f940c7" /><Relationship Type="http://schemas.openxmlformats.org/officeDocument/2006/relationships/notesSlide" Target="/ppt/notesSlides/notesSlide10.xml" Id="R79c01c6070bf417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97a5da51d964979" /><Relationship Type="http://schemas.openxmlformats.org/officeDocument/2006/relationships/notesSlide" Target="/ppt/notesSlides/notesSlide11.xml" Id="Rd576c2c3a96140c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4ce218ebf114560" /><Relationship Type="http://schemas.openxmlformats.org/officeDocument/2006/relationships/notesSlide" Target="/ppt/notesSlides/notesSlide12.xml" Id="Raad53a0dd6dc45e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8B64B-EFDA-4C0D-B54F-326DF74C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DDA646-BB67-471F-842A-5FA40F977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850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850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5850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GlucoTwin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3251471-AB82-414C-8289-2567FAC49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95475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700" b="0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0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2700" b="0">
                <a:solidFill>
                  <a:srgbClr val="167C74"/>
                </a:solidFill>
                <a:latin typeface="Arial"/>
                <a:ea typeface="Arial"/>
                <a:cs typeface="Arial"/>
              </a:rPr>
              <a:t>A virtual patient workspace for glucose forecasting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A3BD8D-B25E-42DA-AFEE-19E3868F9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33725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Historical clinical context + wearable sensor history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4E3191-B2C0-4071-AA81-C02326137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550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Research prototype | 11 October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BA8A40-5DEF-4593-98BE-A609E1F1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1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5238199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63207A-B1C2-479D-8C8B-CAEA6E65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F229B6-14B7-452E-9281-2C2B1203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Team arnavmodi23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0026D0-E4D7-4626-AA2A-0D958181D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Arnav Modi - Team leader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CD6AD2-892A-45EC-BB96-7B8C7DD74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Harjot Singh - Team member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5A8133-F35A-40B9-9CA8-4F6E0E2C8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Arnav Kumar - Team member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A3F709-3117-44C3-AA1B-EF759ED7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Maharaja Surajmal Institute of Technology (MSIT), Delhi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BABF83-6675-48B2-BEC5-40115986E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2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9672507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9F8193-2DFA-4ACA-8700-C06BB84FD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2E851D-766E-4CE9-97ED-9BE15045B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Problem and healthcare use case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F1496B-C7F0-4E39-869C-5CF4913E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A clinician needs to see how recent glucose changes relate to a patient's historical clinical context.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0E8393-A033-4CA3-85F9-5AE1F583A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GlucoTwin links the profile to visible sensor history and fixed future forecasts.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85868D-2F7E-400B-BE03-E898AB530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The research objective is advance prediction of a new sustained high-glucose episode.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F6AB3C-E864-421C-B1E6-211EAD6B0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3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153253989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0516C2-9521-462E-AC80-9AE9245C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1FECD5-1C93-4910-BB4F-4500FE80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Linked historical and sensor data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5EE3BC5-D3B8-44E7-A6CE-3628D414B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CGMacros historical input: age, recorded sex, BMI, baseline HbA1c and fasting glucose.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B92DEF-4DBE-4614-9E86-B6F378F5E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Dynamic input: CGM glucose and heart rate, linked to the same patient.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DD838A-56E0-4265-9A9E-765EE2BA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Retrospective replay; CGM samples are reconstructed and clinical availability is assumed.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C7A454-5049-41B0-AC58-7A0F6122E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4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824204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8EC92D-9F45-443A-AE3E-BCB8CCC3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0C3700-D066-46BA-873D-1033C31DF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Fusion inside the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6FE6A2-91A6-464D-A6A6-431AD7C93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Both streams enter the same fitted feature vector; the profile is more than display context.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3339FF-0003-4D2A-B515-E390D62A3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CGMacros uses 5 historical fields, 22 CGM features and 9 heart-rate features.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83BBEC-1984-4A38-AAFD-4B27AB9B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Imputation and scaling use fitting patients only. Fusion's predictive advantage remains uncertain.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122CC2-89D5-42BD-88B6-1CB7A4C18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5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173338891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79BEEC-546D-44E7-9D4E-6D37DAED8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B713CF-92F1-4334-851B-EB30CF10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Runtime and research 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BF22EC-FEDB-4D84-AB45-97480DED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Historical profile + available sensor history -&gt; causal features -&gt; saved fused Ridge -&gt; local Python API -&gt; browser replay.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EA4AD6C-1506-4279-9090-A304A3AC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Separate saved XGBoost path -&gt; uncalibrated onset score and frozen cutoff -&gt; research decision ledger with delayed outcomes.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97B5F5-5DD6-4563-AA50-A8DACF790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DCLP3 is an offline 30/60-minute numerical study. Event replay uses excluded evaluation folds; operational alerts remain disabled.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A01270-AF14-43E9-BF40-C5D7DA982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6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1412418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C6F449-139B-4579-956D-E8F60EA2F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572032-0EE6-44D5-AA9B-FAC46702F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Clinician interaction demonstration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746D60-4417-4780-9ACA-60EBBE81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Inspect historical profile, sensor coverage and visible glucose history.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69F3E9-1FF0-49F2-A7FD-A458C3CD2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Advance the replay; forecasts stay fixed when issued. Outcomes appear only when available.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59637E-F327-4379-A82A-2F320396A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Compare model error with persistence, switch patients and examine missing observations.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474652-78AB-4105-87C8-01D5577B8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CGMacros event research: fixed score/cutoff/decision; outcome hidden until issue time +45 minutes.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5F9C5E-6A97-494A-B767-309D0495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7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5081896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497E77B-2CB6-42B1-B4AF-83521E258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E6C2A4-DB51-4C0C-B9D3-1DA55C02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Advance-event definition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0105E2-9880-4642-94FE-8784BCCC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New sustained high onset: 4 consecutive five-minute readings above 180 mg/dL, after 7 readings at or below 180.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D5BDE3-321D-4493-BF2B-469377143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Prediction window: onset 5-30 minutes ahead. Features contain only past information.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31E9EF-CF30-4BA7-8C31-E7F1FA201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108204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27 development patients; 3 outer folds separate fitting, cutoff setting and evaluation. Six reserved patients remain unscored.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A05C5F-728D-4729-A1B5-BDCF93DAE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8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131534891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599041-D171-41C2-A65E-EB30A5DBB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27C704-680C-49A1-8F8A-6C64FEABE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Measured event prediction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F38E6C5-D4BF-4D64-A38E-AC4BD12111F0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3000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60007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Metric</a:t>
                      </a:r>
                    </a:p>
                  </a:txBody>
                  <a:tcPr marL="91440" marR="91440" marT="45720" marB="45720">
                    <a:solidFill>
                      <a:srgbClr val="167C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Fused XGBoost v2</a:t>
                      </a:r>
                    </a:p>
                  </a:txBody>
                  <a:tcPr marL="91440" marR="91440" marT="45720" marB="45720">
                    <a:solidFill>
                      <a:srgbClr val="167C74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Episodes detected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229 / 336 (68.2%)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Conservative precision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52.8%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False alarms / eligible day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0.98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Median detected-event lead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10 minutes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5CD3E-5678-4341-A584-470287A3A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9587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Development results. Cutoff-setting folds were not consistently successful; patient intervals cross gate limits.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4BE161-5A9A-4A4D-988E-F114E173C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9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93367623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5EA31F-1DE1-4FBD-AB63-8CC03FEB2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A409F3-07BB-4587-816F-B2CB237BF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Larger DCLP3 numerical study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A7264E-BE37-40D2-9C8A-367776CEFB32}"/>
              </a:ext>
            </a:extLst>
          </p:cNvPr>
          <p:cNvGraphicFramePr/>
          <p:nvPr/>
        </p:nvGraphicFramePr>
        <p:xfrm>
          <a:off xmlns:a="http://schemas.openxmlformats.org/drawingml/2006/main" x="609600" y="1952625"/>
          <a:ext xmlns:a="http://schemas.openxmlformats.org/drawingml/2006/main" cx="10972800" cy="18002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657600"/>
                <a:gridCol w="3657600"/>
                <a:gridCol w="3657600"/>
              </a:tblGrid>
              <a:tr h="600075"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Participant MAE (mg/dL)</a:t>
                      </a:r>
                    </a:p>
                  </a:txBody>
                  <a:tcPr marL="91440" marR="91440" marT="45720" marB="45720">
                    <a:solidFill>
                      <a:srgbClr val="167C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30 minutes</a:t>
                      </a:r>
                    </a:p>
                  </a:txBody>
                  <a:tcPr marL="91440" marR="91440" marT="45720" marB="45720">
                    <a:solidFill>
                      <a:srgbClr val="167C7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60 minutes</a:t>
                      </a:r>
                    </a:p>
                  </a:txBody>
                  <a:tcPr marL="91440" marR="91440" marT="45720" marB="45720">
                    <a:solidFill>
                      <a:srgbClr val="167C74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Persistence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20.92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32.32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00075"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CGM-only XGBoost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17.53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950" b="0">
                          <a:solidFill>
                            <a:srgbClr val="183344"/>
                          </a:solidFill>
                          <a:latin typeface="Arial"/>
                          <a:ea typeface="Arial"/>
                          <a:cs typeface="Arial"/>
                        </a:rPr>
                        <a:t>27.47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33C65D-6D82-4E57-BF36-6D60870E9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95725"/>
            <a:ext cx="109728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134 development patients, 4 patient-disjoint folds; 34 reserved unscored. Separate cohort; approximately 35/65-minute lookahead from the latest reading.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C3E71F-F00D-4B70-823A-AC30B5A9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10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8548801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C48FE1-5638-40FD-93A5-8DFDDB72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C0C9BC-0259-4116-A81B-1B9020956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Limits that affect the conclusion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43FAF2-99B0-4CFD-BD6A-485665DB1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Only 36.6% of evaluable episodes received at least ten minutes warning in the v2 development backtest.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6E9E87-30BA-4C3E-A375-79C52A4A4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Later onset v3 recall fell to 51.5%; it was rejected as an overall improvement.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B83373-6255-4599-B97E-B93980A17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DCLP3 low-target 60-minute MAE: 54.31 versus persistence 50.04. Clinical fields added no convincing overall gain.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D44153-BE3C-44E3-B829-6C675D081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No clinical validation. Risk percentages, operational alerts and treatment advice remain disabled.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59F326-4F33-4014-A187-5FDFB31D6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11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15867974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D80C9D-085B-4A0E-84EC-9AC30D3A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1000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167C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67C74"/>
                </a:solidFill>
                <a:latin typeface="Arial"/>
                <a:ea typeface="Arial"/>
                <a:cs typeface="Arial"/>
              </a:rPr>
              <a:t>GLUCOTWIN  /  RESEARCH PROTOTYPE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C85F2D-EB9B-4AE3-BE4C-B93A8DAD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47725"/>
            <a:ext cx="10953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825" b="1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3825" b="1">
                <a:solidFill>
                  <a:srgbClr val="183344"/>
                </a:solidFill>
                <a:latin typeface="Arial"/>
                <a:ea typeface="Arial"/>
                <a:cs typeface="Arial"/>
              </a:rPr>
              <a:t>Reproducibility and remaining work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7C45A7-A069-424E-AC55-072303A1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6215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Python + scikit-learn + XGBoost; HTML/CSS/JavaScript browser. Measured studies ran on local CPU.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5CDF86-56A4-454A-A200-3E19FFAF7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4322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Reproducible scripts, frozen configurations and aggregate reports are in the repository; records and model binaries stay local.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7A0D23-D876-4735-BABC-5FB42ADB4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Next: freeze a final model/cutoff policy before using reserved data. Research replay does not establish clinical reliability.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F7F7D1-35FF-4C96-9624-0B7EDF74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05375"/>
            <a:ext cx="10820400" cy="866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0">
                <a:solidFill>
                  <a:srgbClr val="183344"/>
                </a:solidFill>
                <a:latin typeface="Arial"/>
                <a:ea typeface="Arial"/>
                <a:cs typeface="Arial"/>
              </a:defRPr>
            </a:pPr>
            <a:r>
              <a:rPr sz="2175" b="0">
                <a:solidFill>
                  <a:srgbClr val="183344"/>
                </a:solidFill>
                <a:latin typeface="Arial"/>
                <a:ea typeface="Arial"/>
                <a:cs typeface="Arial"/>
              </a:rPr>
              <a:t>Original code: MIT License. Dataset terms remain separate. Video preparation is deferred.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C10FE1-65E1-4E3D-B10B-B7BBD9FE6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536979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36979"/>
                </a:solidFill>
                <a:latin typeface="Arial"/>
                <a:ea typeface="Arial"/>
                <a:cs typeface="Arial"/>
              </a:rPr>
              <a:t>12 / 12     |     11 October 2026</a:t>
            </a:r>
          </a:p>
        </p:txBody>
      </p:sp>
    </p:spTree>
    <p:extLst>
      <p:ext uri="{BB962C8B-B14F-4D97-AF65-F5344CB8AC3E}">
        <p14:creationId xmlns:p14="http://schemas.microsoft.com/office/powerpoint/2010/main" val="93284472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2026-10-11T10:05:25.9680000Z</dcterms:created>
  <dcterms:modified xsi:type="dcterms:W3CDTF">2026-10-11T10:05:25.9680000Z</dcterms:modified>
</coreProperties>
</file>